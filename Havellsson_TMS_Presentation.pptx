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TITLE SLIDE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01/28</a:t>
            </a:r>
          </a:p>
        </p:txBody>
      </p:sp>
      <p:sp>
        <p:nvSpPr>
          <p:cNvPr id="7" name="Oval 6"/>
          <p:cNvSpPr/>
          <p:nvPr/>
        </p:nvSpPr>
        <p:spPr>
          <a:xfrm>
            <a:off x="411480" y="822960"/>
            <a:ext cx="1645920" cy="1645920"/>
          </a:xfrm>
          <a:prstGeom prst="ellipse">
            <a:avLst/>
          </a:prstGeom>
          <a:solidFill>
            <a:srgbClr val="1C6A45"/>
          </a:solidFill>
          <a:ln w="12700">
            <a:solidFill>
              <a:srgbClr val="1C6A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822960"/>
            <a:ext cx="1143000" cy="1143000"/>
          </a:xfrm>
          <a:prstGeom prst="ellipse">
            <a:avLst/>
          </a:prstGeom>
          <a:solidFill>
            <a:srgbClr val="2B8A57"/>
          </a:solidFill>
          <a:ln w="12700">
            <a:solidFill>
              <a:srgbClr val="2B8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424160" y="4663440"/>
            <a:ext cx="1280160" cy="1280160"/>
          </a:xfrm>
          <a:prstGeom prst="ellipse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109728" cy="347472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097280"/>
            <a:ext cx="5394960" cy="5029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Havellsson NEET Samrat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627632"/>
            <a:ext cx="493776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4C542"/>
                </a:solidFill>
                <a:latin typeface="Segoe UI"/>
              </a:rPr>
              <a:t>Tuition Management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5029200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A complete Java EE / JSP platform for admissions, fee collection, attendance, exams, OMR workflows and student support.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2743200"/>
            <a:ext cx="2148840" cy="384048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45336"/>
                </a:solidFill>
                <a:latin typeface="Segoe UI"/>
              </a:rPr>
              <a:t>11 Integrated Modules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2743200"/>
            <a:ext cx="192024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45336"/>
                </a:solidFill>
                <a:latin typeface="Segoe UI"/>
              </a:rPr>
              <a:t>Dual Portals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3246120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45336"/>
                </a:solidFill>
                <a:latin typeface="Segoe UI"/>
              </a:rPr>
              <a:t>Razorpay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97480" y="3246120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45336"/>
                </a:solidFill>
                <a:latin typeface="Segoe UI"/>
              </a:rPr>
              <a:t>OMR 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34840" y="3246120"/>
            <a:ext cx="1645920" cy="3840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45336"/>
                </a:solidFill>
                <a:latin typeface="Segoe UI"/>
              </a:rPr>
              <a:t>WhatsApp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1051560"/>
            <a:ext cx="480060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29400" y="1051560"/>
            <a:ext cx="480060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1097280"/>
            <a:ext cx="4617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Platform Highlights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536192"/>
            <a:ext cx="42519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Segoe UI"/>
              </a:rPr>
              <a:t>• 11 operational modules from inquiry to report 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1810512"/>
            <a:ext cx="42519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Segoe UI"/>
              </a:rPr>
              <a:t>• Dedicated staff/admin and student self-service portals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084831"/>
            <a:ext cx="42519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Segoe UI"/>
              </a:rPr>
              <a:t>• Razorpay online payment + manual collection workflows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359152"/>
            <a:ext cx="42519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Segoe UI"/>
              </a:rPr>
              <a:t>• Claude Vision powered OMR sheet interpretation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633472"/>
            <a:ext cx="42519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Segoe UI"/>
              </a:rPr>
              <a:t>• WhatsApp-enabled notifications and support updates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2907791"/>
            <a:ext cx="42519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Segoe UI"/>
              </a:rPr>
              <a:t>• Ticketing system for fees, study and technical issues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3720" y="3977639"/>
            <a:ext cx="4069080" cy="86868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4096512"/>
            <a:ext cx="3749039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Designed for fast-growing NEET coaching operations with audit-ready records, printable receipts and mobile-friendly student access.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02/28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658368"/>
            <a:ext cx="553212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658368"/>
            <a:ext cx="553212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04088"/>
            <a:ext cx="53492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About the 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078992"/>
            <a:ext cx="4983480" cy="100584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Segoe UI"/>
              </a:rPr>
              <a:t>Havellsson NEET Samrat TMS centralizes admissions, academics and student servicing for a modern NEET coaching institute. The application uses MVC-based Java EE architecture, responsive JSP interfaces and reliable MySQL persistence to streamline daily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219456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>
                <a:solidFill>
                  <a:srgbClr val="145336"/>
                </a:solidFill>
                <a:latin typeface="Segoe UI"/>
              </a:rPr>
              <a:t>Key Highlights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487168"/>
            <a:ext cx="46634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Segoe UI"/>
              </a:rPr>
              <a:t>• Unified admissions, fee, attendance and examination lifecycle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798064"/>
            <a:ext cx="46634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Segoe UI"/>
              </a:rPr>
              <a:t>• Printable receipts, report cards and operational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08960"/>
            <a:ext cx="46634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Segoe UI"/>
              </a:rPr>
              <a:t>• Public inquiry funnel with conversion into full admission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19856"/>
            <a:ext cx="46634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Segoe UI"/>
              </a:rPr>
              <a:t>• Student portal for attendance, study material and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730752"/>
            <a:ext cx="46634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Segoe UI"/>
              </a:rPr>
              <a:t>• Payment capture through Razorpay and manual 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41648"/>
            <a:ext cx="46634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70" b="0">
                <a:solidFill>
                  <a:srgbClr val="1F2937"/>
                </a:solidFill>
                <a:latin typeface="Segoe UI"/>
              </a:rPr>
              <a:t>• AI-assisted OMR processing and WhatsApp-ready messaging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658368"/>
            <a:ext cx="557784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72200" y="658368"/>
            <a:ext cx="557784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704088"/>
            <a:ext cx="5394959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Technology Stack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170432"/>
            <a:ext cx="1741017" cy="329184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1207008"/>
            <a:ext cx="1704441" cy="256031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Layer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41817" y="1170432"/>
            <a:ext cx="3379622" cy="329184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60105" y="1207008"/>
            <a:ext cx="3343046" cy="256031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Technology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499616"/>
            <a:ext cx="1741017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28232" y="1517904"/>
            <a:ext cx="1686153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Backend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41817" y="1499616"/>
            <a:ext cx="337962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69249" y="1517904"/>
            <a:ext cx="332475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Java EE Servlets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1920240"/>
            <a:ext cx="1741017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1938528"/>
            <a:ext cx="1686153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Frontend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41817" y="1920240"/>
            <a:ext cx="337962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69249" y="1938528"/>
            <a:ext cx="332475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JSP, CSS3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340864"/>
            <a:ext cx="1741017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28232" y="2359152"/>
            <a:ext cx="1686153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DB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41817" y="2340864"/>
            <a:ext cx="337962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69249" y="2359152"/>
            <a:ext cx="332475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MySQL 8.x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2761488"/>
            <a:ext cx="1741017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28232" y="2779776"/>
            <a:ext cx="1686153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Payment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41817" y="2761488"/>
            <a:ext cx="337962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69249" y="2779776"/>
            <a:ext cx="332475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Razorpay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0" y="3182112"/>
            <a:ext cx="1741017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3200400"/>
            <a:ext cx="1686153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AI / OMR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41817" y="3182112"/>
            <a:ext cx="337962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9249" y="3200400"/>
            <a:ext cx="332475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Claude Vision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602736"/>
            <a:ext cx="1741017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28232" y="3621024"/>
            <a:ext cx="1686153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Messaging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41817" y="3602736"/>
            <a:ext cx="337962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69249" y="3621024"/>
            <a:ext cx="332475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WhatsApp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4023360"/>
            <a:ext cx="1741017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28232" y="4041648"/>
            <a:ext cx="1686153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Security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41817" y="4023360"/>
            <a:ext cx="337962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69249" y="4041648"/>
            <a:ext cx="332475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SHA-256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0" y="4443984"/>
            <a:ext cx="1741017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28232" y="4462272"/>
            <a:ext cx="1686153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Architecture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141817" y="4443984"/>
            <a:ext cx="337962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69249" y="4462272"/>
            <a:ext cx="332475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MVC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03/28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49808"/>
            <a:ext cx="182880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>
                <a:solidFill>
                  <a:srgbClr val="145336"/>
                </a:solidFill>
                <a:latin typeface="Segoe UI"/>
              </a:rPr>
              <a:t>MVC Application Core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1965960" cy="7132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097280"/>
            <a:ext cx="196596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19" y="1143000"/>
            <a:ext cx="17830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1389888"/>
            <a:ext cx="1645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Segoe UI"/>
              </a:rPr>
              <a:t>UI / Request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792224"/>
            <a:ext cx="36576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145336"/>
                </a:solidFill>
                <a:latin typeface="Segoe U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29967"/>
            <a:ext cx="19659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0080" y="2029967"/>
            <a:ext cx="19659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19" y="2075687"/>
            <a:ext cx="17830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Controller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322576"/>
            <a:ext cx="1645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Segoe UI"/>
              </a:rPr>
              <a:t>Servlet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724912"/>
            <a:ext cx="36576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145336"/>
                </a:solidFill>
                <a:latin typeface="Segoe U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62656"/>
            <a:ext cx="1965960" cy="7132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080" y="2962656"/>
            <a:ext cx="19659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3008376"/>
            <a:ext cx="17830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Service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3255264"/>
            <a:ext cx="1645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Segoe UI"/>
              </a:rPr>
              <a:t>Business Logic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3657600"/>
            <a:ext cx="36576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200" b="1">
                <a:solidFill>
                  <a:srgbClr val="145336"/>
                </a:solidFill>
                <a:latin typeface="Segoe U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895344"/>
            <a:ext cx="196596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" y="3895344"/>
            <a:ext cx="19659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19" y="3941063"/>
            <a:ext cx="17830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DAO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4187952"/>
            <a:ext cx="1645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Segoe UI"/>
              </a:rPr>
              <a:t>Persistence Queries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749808"/>
            <a:ext cx="210312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>
                <a:solidFill>
                  <a:srgbClr val="145336"/>
                </a:solidFill>
                <a:latin typeface="Segoe UI"/>
              </a:rPr>
              <a:t>User Portals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132588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337560" y="1325880"/>
            <a:ext cx="2514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29000" y="1371600"/>
            <a:ext cx="2331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Staff / 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20440" y="1691640"/>
            <a:ext cx="210312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Segoe UI"/>
              </a:rPr>
              <a:t>Operations &amp; control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37560" y="256032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37560" y="2560320"/>
            <a:ext cx="2514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9000" y="2606039"/>
            <a:ext cx="2331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Student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0440" y="2926080"/>
            <a:ext cx="210312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Segoe UI"/>
              </a:rPr>
              <a:t>Self-service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37560" y="3794760"/>
            <a:ext cx="25146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337560" y="3794760"/>
            <a:ext cx="2514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29000" y="3840480"/>
            <a:ext cx="2331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Public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4160520"/>
            <a:ext cx="210312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19" b="0">
                <a:solidFill>
                  <a:srgbClr val="1F2937"/>
                </a:solidFill>
                <a:latin typeface="Segoe UI"/>
              </a:rPr>
              <a:t>Inquiry &amp; onboarding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749808"/>
            <a:ext cx="24231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>
                <a:solidFill>
                  <a:srgbClr val="145336"/>
                </a:solidFill>
                <a:latin typeface="Segoe UI"/>
              </a:rPr>
              <a:t>External Services &amp; Data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0" y="1051560"/>
            <a:ext cx="26974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315200" y="1051560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6640" y="1097280"/>
            <a:ext cx="25146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Razorpay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98079" y="1353312"/>
            <a:ext cx="23317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Payments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0" y="2103120"/>
            <a:ext cx="26974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315200" y="2103120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06640" y="2148839"/>
            <a:ext cx="25146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WhatsApp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2404872"/>
            <a:ext cx="23317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Notifications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3154679"/>
            <a:ext cx="26974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315200" y="3154679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3200399"/>
            <a:ext cx="25146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Claude AI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3456432"/>
            <a:ext cx="23317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OMR Interpretation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0" y="4206240"/>
            <a:ext cx="26974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315200" y="4206240"/>
            <a:ext cx="2697480" cy="256032"/>
          </a:xfrm>
          <a:prstGeom prst="roundRect">
            <a:avLst>
              <a:gd name="adj" fmla="val 12000"/>
            </a:avLst>
          </a:prstGeom>
          <a:solidFill>
            <a:srgbClr val="4B5563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06640" y="4251959"/>
            <a:ext cx="25146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MySQL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4507992"/>
            <a:ext cx="23317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Persistent Storage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1719072"/>
            <a:ext cx="10058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145336"/>
                </a:solidFill>
                <a:latin typeface="Segoe UI"/>
              </a:rPr>
              <a:t>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80760" y="2953512"/>
            <a:ext cx="10058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145336"/>
                </a:solidFill>
                <a:latin typeface="Segoe UI"/>
              </a:rPr>
              <a:t>→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080760" y="4187952"/>
            <a:ext cx="100584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600" b="1">
                <a:solidFill>
                  <a:srgbClr val="145336"/>
                </a:solidFill>
                <a:latin typeface="Segoe UI"/>
              </a:rPr>
              <a:t>→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287000" y="1188720"/>
            <a:ext cx="1234440" cy="434340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24160" y="1417320"/>
            <a:ext cx="960120" cy="3794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145336"/>
                </a:solidFill>
                <a:latin typeface="Segoe UI"/>
              </a:rPr>
              <a:t>Integrated data flow:
Admissions → Fees → Attendance → Exams → Results →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Staff Login (login.jsp)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04/28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Staff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Inquiry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1316" y="713232"/>
            <a:ext cx="10561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Admin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087368" y="1865376"/>
            <a:ext cx="3886200" cy="3886200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2029968"/>
            <a:ext cx="86868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2057400"/>
            <a:ext cx="7772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145336"/>
                </a:solidFill>
                <a:latin typeface="Segoe UI"/>
              </a:rPr>
              <a:t>Staff 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2395728"/>
            <a:ext cx="33832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egoe UI"/>
              </a:rPr>
              <a:t>Welcome Back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2706624"/>
            <a:ext cx="324612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Segoe UI"/>
              </a:rPr>
              <a:t>Sign in to manage admissions, fees &amp;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3035808"/>
            <a:ext cx="33832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Username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3172968"/>
            <a:ext cx="3383280" cy="374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648456"/>
            <a:ext cx="33832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Password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3785616"/>
            <a:ext cx="3383280" cy="374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••••••••••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43400" y="4334256"/>
            <a:ext cx="3383280" cy="42062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145336"/>
                </a:solidFill>
                <a:latin typeface="Segoe UI"/>
              </a:rPr>
              <a:t>Sign In 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64608"/>
            <a:ext cx="3383280" cy="475488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4840" y="4974336"/>
            <a:ext cx="315468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📝 New Student? Submit an Inquiry 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53128" y="5431536"/>
            <a:ext cx="30632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80" b="0">
                <a:solidFill>
                  <a:srgbClr val="FFFFFF"/>
                </a:solidFill>
                <a:latin typeface="Segoe UI"/>
              </a:rPr>
              <a:t>Student? Login to the Student Portal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48" y="5577840"/>
            <a:ext cx="173736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Segoe UI"/>
              </a:rPr>
              <a:t>Demo: admin / admin123</a:t>
            </a:r>
          </a:p>
        </p:txBody>
      </p:sp>
      <p:sp>
        <p:nvSpPr>
          <p:cNvPr id="38" name="Oval 37"/>
          <p:cNvSpPr/>
          <p:nvPr/>
        </p:nvSpPr>
        <p:spPr>
          <a:xfrm>
            <a:off x="11301984" y="5888736"/>
            <a:ext cx="438912" cy="438912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59" y="5952744"/>
            <a:ext cx="36576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800" b="0">
                <a:solidFill>
                  <a:srgbClr val="FFFFFF"/>
                </a:solidFill>
                <a:latin typeface="Segoe UI"/>
              </a:rPr>
              <a:t>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Student Login (student-login.jsp)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05/28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Student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9189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Staff Login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Student Access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133087" y="2020824"/>
            <a:ext cx="379476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79" y="2185416"/>
            <a:ext cx="1005840" cy="237744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145336"/>
                </a:solidFill>
                <a:latin typeface="Segoe UI"/>
              </a:rPr>
              <a:t>Student Portal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2523744"/>
            <a:ext cx="315468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Student Login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2788920"/>
            <a:ext cx="3246120" cy="2743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4B5563"/>
                </a:solidFill>
                <a:latin typeface="Segoe UI"/>
              </a:rPr>
              <a:t>Access your attendance, study material &amp; e-content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163824"/>
            <a:ext cx="32918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Admission Number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300984"/>
            <a:ext cx="3291840" cy="374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60" b="0">
                <a:solidFill>
                  <a:srgbClr val="1F2937"/>
                </a:solidFill>
                <a:latin typeface="Segoe UI"/>
              </a:rPr>
              <a:t>e.g. HNS-2627-0481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3785615"/>
            <a:ext cx="32918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Registered Mobile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922776"/>
            <a:ext cx="3291840" cy="374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60" b="0">
                <a:solidFill>
                  <a:srgbClr val="1F2937"/>
                </a:solidFill>
                <a:latin typeface="Segoe UI"/>
              </a:rPr>
              <a:t>10-digit mobile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443983"/>
            <a:ext cx="3291840" cy="420624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Login 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4946904"/>
            <a:ext cx="3291840" cy="31089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5010912"/>
            <a:ext cx="310896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9" b="0">
                <a:solidFill>
                  <a:srgbClr val="145336"/>
                </a:solidFill>
                <a:latin typeface="Segoe UI"/>
              </a:rPr>
              <a:t>Use your admission number and the mobile number registered at admission.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Admin Dashboard (dashboard.jsp)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06/28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Inquiries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8644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OMR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Tickets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2620" y="713232"/>
            <a:ext cx="11932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👤 admin (ADMIN)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0776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Logout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Live Institute 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" y="1362456"/>
            <a:ext cx="3749039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Welcome, System Administrator 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" y="1746504"/>
            <a:ext cx="2816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6888" y="1746504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74904" y="1819656"/>
            <a:ext cx="25603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👥 Students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4904" y="2002536"/>
            <a:ext cx="2560320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142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099816" y="1746504"/>
            <a:ext cx="2816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099816" y="1746504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27832" y="1819656"/>
            <a:ext cx="25603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📥 New Inquiries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27832" y="2002536"/>
            <a:ext cx="2560320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8 / 34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52744" y="1746504"/>
            <a:ext cx="2816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952744" y="1746504"/>
            <a:ext cx="73152" cy="71323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80759" y="1819656"/>
            <a:ext cx="25603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💰 Fees Collected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59" y="2002536"/>
            <a:ext cx="2560320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₹4,32,000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05672" y="1746504"/>
            <a:ext cx="2816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805672" y="1746504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33688" y="1819656"/>
            <a:ext cx="25603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📆 Today's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3688" y="2002536"/>
            <a:ext cx="2560320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₹18,500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46888" y="2569464"/>
            <a:ext cx="2816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46888" y="2569464"/>
            <a:ext cx="73152" cy="71323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74904" y="2642616"/>
            <a:ext cx="25603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🧾 Outstanding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4904" y="2825496"/>
            <a:ext cx="2560320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₹92,400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099816" y="2569464"/>
            <a:ext cx="2816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099816" y="2569464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27832" y="2642616"/>
            <a:ext cx="25603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📅 Present Today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27832" y="2825496"/>
            <a:ext cx="2560320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118 / 134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52744" y="2569464"/>
            <a:ext cx="2816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952744" y="2569464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080759" y="2642616"/>
            <a:ext cx="25603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🧪 Exams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80759" y="2825496"/>
            <a:ext cx="2560320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12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805672" y="2569464"/>
            <a:ext cx="281635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805672" y="2569464"/>
            <a:ext cx="73152" cy="713232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933688" y="2642616"/>
            <a:ext cx="25603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📋 Fee Paid:85 Partial:22 Pending:35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933688" y="2825496"/>
            <a:ext cx="2560320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Collection Mix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46888" y="3447287"/>
            <a:ext cx="201168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>
                <a:solidFill>
                  <a:srgbClr val="145336"/>
                </a:solidFill>
                <a:latin typeface="Segoe UI"/>
              </a:rPr>
              <a:t>Operational Modules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6888" y="3694176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8328" y="3813048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📝 Admissions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099816" y="3694176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191256" y="3813048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📥 Inquiries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52744" y="3694176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44183" y="3813048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👥 Students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05672" y="3694176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897111" y="3813048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💰 Fee Management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246888" y="4462272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38328" y="4581144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🧾 Payment Collection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3099816" y="4462272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191256" y="4581144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📅 Attendance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952744" y="4462272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044183" y="4581144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🧪 Examination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8805672" y="4462272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97111" y="4581144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📊 Reports &amp; Results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246888" y="5230368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38328" y="5349240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📚 Learning Materials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3099816" y="5230368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191256" y="5349240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📄 OMR Scanner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952744" y="5230368"/>
            <a:ext cx="2816352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044183" y="5349240"/>
            <a:ext cx="2633472" cy="49377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🎫 Support Tickets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Public Inquiry Form (inquiry.jsp)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07/28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Admissions Desk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Inquiry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1316" y="713232"/>
            <a:ext cx="9189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Staff Login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Public 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675887" y="1527048"/>
            <a:ext cx="47548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675887" y="1527048"/>
            <a:ext cx="4754880" cy="2560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67327" y="1572768"/>
            <a:ext cx="45720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Enquire About Admission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77055" y="1691639"/>
            <a:ext cx="1508760" cy="237744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00" b="1">
                <a:solidFill>
                  <a:srgbClr val="145336"/>
                </a:solidFill>
                <a:latin typeface="Segoe UI"/>
              </a:rPr>
              <a:t>Step 1 of 2 — Inquiry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77055" y="2075688"/>
            <a:ext cx="4352544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Full Name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77055" y="2212848"/>
            <a:ext cx="4352544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Aarohi Patil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77055" y="2679191"/>
            <a:ext cx="2084831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Mobile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77055" y="2816351"/>
            <a:ext cx="2084831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9876543210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44768" y="2679191"/>
            <a:ext cx="2084831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Email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44768" y="2816351"/>
            <a:ext cx="2084831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aarohi.patil@gmail.com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77055" y="3282696"/>
            <a:ext cx="2084831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Class Interested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877055" y="3419856"/>
            <a:ext cx="2084831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3282696"/>
            <a:ext cx="2084831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How did you hear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44768" y="3419856"/>
            <a:ext cx="2084831" cy="338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Friend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77055" y="3886200"/>
            <a:ext cx="4352544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Message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877055" y="4023360"/>
            <a:ext cx="4352544" cy="731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Looking for NEET-focused Biology and Chemistry coaching with weekly tests.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877055" y="4873752"/>
            <a:ext cx="4352544" cy="749808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877055" y="4873752"/>
            <a:ext cx="4352544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68495" y="4919472"/>
            <a:ext cx="4169663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Terms &amp; Conditions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05072" y="5175504"/>
            <a:ext cx="4041648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Admissions are confirmed only after document verification, fee-plan selection and seat availability. Demo classes are subject to schedule and institute policy.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50207" y="5687568"/>
            <a:ext cx="33832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80" b="1">
                <a:solidFill>
                  <a:srgbClr val="145336"/>
                </a:solidFill>
                <a:latin typeface="Segoe UI"/>
              </a:rPr>
              <a:t>☑ I have read and agree to T&amp;C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877055" y="5843016"/>
            <a:ext cx="4352544" cy="384048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Submit Inquiry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Inquiries List (inquiries.jsp)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08/28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Inquiries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76288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8644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OMR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33104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Tickets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46888" y="1362456"/>
            <a:ext cx="155448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Inquiries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64208" y="1380744"/>
            <a:ext cx="960120" cy="21945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34 inquiries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" y="1664208"/>
            <a:ext cx="28346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" y="1801368"/>
            <a:ext cx="283464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Search name or mobile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0128" y="1664208"/>
            <a:ext cx="20116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10128" y="1801368"/>
            <a:ext cx="201168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790" b="0">
                <a:solidFill>
                  <a:srgbClr val="1F2937"/>
                </a:solidFill>
                <a:latin typeface="Segoe UI"/>
              </a:rPr>
              <a:t>All / NEW / CONTACTED / CONVERTED / CLOSED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" y="2231136"/>
            <a:ext cx="58475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5176" y="2267712"/>
            <a:ext cx="54818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646" y="2231136"/>
            <a:ext cx="210513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9934" y="2267712"/>
            <a:ext cx="206855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36778" y="2231136"/>
            <a:ext cx="1520372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55066" y="2267712"/>
            <a:ext cx="148379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Mobile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57151" y="2231136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75439" y="2267712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Class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26668" y="2231136"/>
            <a:ext cx="163732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44956" y="2267712"/>
            <a:ext cx="160074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Source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63993" y="2231136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82281" y="2267712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667414" y="2231136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685702" y="2267712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70835" y="2231136"/>
            <a:ext cx="187122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89123" y="2267712"/>
            <a:ext cx="183465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" y="2542032"/>
            <a:ext cx="584758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2560320"/>
            <a:ext cx="529894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1646" y="2542032"/>
            <a:ext cx="2105131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078" y="2560320"/>
            <a:ext cx="2050267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Priya Deshmukh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36778" y="2542032"/>
            <a:ext cx="1520372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64210" y="2560320"/>
            <a:ext cx="1465508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98XXXXXXXX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57151" y="2542032"/>
            <a:ext cx="1169517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84583" y="2560320"/>
            <a:ext cx="1114653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626668" y="2542032"/>
            <a:ext cx="1637324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54100" y="2560320"/>
            <a:ext cx="1582460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Friend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63993" y="2542032"/>
            <a:ext cx="1403421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691384" y="2587751"/>
            <a:ext cx="548640" cy="384048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145336"/>
                </a:solidFill>
                <a:latin typeface="Segoe UI"/>
              </a:rPr>
              <a:t>NEW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67414" y="2542032"/>
            <a:ext cx="1403421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94846" y="2560320"/>
            <a:ext cx="1348557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05 Jul 2026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070835" y="2542032"/>
            <a:ext cx="1871228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613257" y="2583179"/>
            <a:ext cx="786384" cy="39319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Convert→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8" y="3017520"/>
            <a:ext cx="584758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3035808"/>
            <a:ext cx="529894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31646" y="3017520"/>
            <a:ext cx="2105131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9078" y="3035808"/>
            <a:ext cx="2050267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Arjun Sharma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936778" y="3017520"/>
            <a:ext cx="1520372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64210" y="3035808"/>
            <a:ext cx="1465508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97XXXXXXXX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457151" y="3017520"/>
            <a:ext cx="1169517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484583" y="3035808"/>
            <a:ext cx="1114653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11th PCM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26668" y="3017520"/>
            <a:ext cx="1637324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54100" y="3035808"/>
            <a:ext cx="1582460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Social Media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263993" y="3017520"/>
            <a:ext cx="1403421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7549652" y="3063239"/>
            <a:ext cx="832104" cy="384048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CONTACTED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667414" y="3017520"/>
            <a:ext cx="1403421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694846" y="3035808"/>
            <a:ext cx="1348557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03 Jul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070835" y="3017520"/>
            <a:ext cx="1871228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613257" y="3058668"/>
            <a:ext cx="786384" cy="39319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Convert→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6888" y="3493008"/>
            <a:ext cx="584758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3511296"/>
            <a:ext cx="529894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1646" y="3493008"/>
            <a:ext cx="2105131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9078" y="3511296"/>
            <a:ext cx="2050267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Meera Tiwari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936778" y="3493008"/>
            <a:ext cx="1520372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64210" y="3511296"/>
            <a:ext cx="1465508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96XXXXXXXX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457151" y="3493008"/>
            <a:ext cx="1169517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484583" y="3511296"/>
            <a:ext cx="1114653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626668" y="3493008"/>
            <a:ext cx="1637324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654100" y="3511296"/>
            <a:ext cx="1582460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Walk-in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263993" y="3493008"/>
            <a:ext cx="1403421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7549652" y="3538727"/>
            <a:ext cx="832104" cy="384048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CONVERTED</a:t>
            </a:r>
          </a:p>
        </p:txBody>
      </p:sp>
      <p:sp>
        <p:nvSpPr>
          <p:cNvPr id="97" name="Rectangle 96"/>
          <p:cNvSpPr/>
          <p:nvPr/>
        </p:nvSpPr>
        <p:spPr>
          <a:xfrm>
            <a:off x="8667414" y="3493008"/>
            <a:ext cx="1403421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694846" y="3511296"/>
            <a:ext cx="1348557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01 Jul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070835" y="3493008"/>
            <a:ext cx="1871228" cy="475488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677265" y="3534156"/>
            <a:ext cx="658368" cy="39319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✓ Done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46888" y="3968496"/>
            <a:ext cx="584758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74320" y="3986783"/>
            <a:ext cx="529894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4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31646" y="3968496"/>
            <a:ext cx="2105131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59078" y="3986783"/>
            <a:ext cx="2050267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Ravi Kumar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936778" y="3968496"/>
            <a:ext cx="1520372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964210" y="3986783"/>
            <a:ext cx="1465508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95XXXXXXXX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457151" y="3968496"/>
            <a:ext cx="1169517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484583" y="3986783"/>
            <a:ext cx="1114653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11th PCB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626668" y="3968496"/>
            <a:ext cx="1637324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5654100" y="3986783"/>
            <a:ext cx="1582460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Newspaper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263993" y="3968496"/>
            <a:ext cx="1403421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7645664" y="4014215"/>
            <a:ext cx="640080" cy="384048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CLOSED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667414" y="3968496"/>
            <a:ext cx="1403421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694846" y="3986783"/>
            <a:ext cx="1348557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28 Jun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70835" y="3968496"/>
            <a:ext cx="1871228" cy="475488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98267" y="3986783"/>
            <a:ext cx="1816364" cy="4389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Student Admission Form (admission.jsp)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09/28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Admissions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3732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9612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4868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4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Tickets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6888" y="1362456"/>
            <a:ext cx="11695176" cy="566928"/>
          </a:xfrm>
          <a:prstGeom prst="roundRect">
            <a:avLst>
              <a:gd name="adj" fmla="val 12000"/>
            </a:avLst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" y="1490472"/>
            <a:ext cx="201168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egoe UI"/>
              </a:rPr>
              <a:t>New Admission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" y="1700784"/>
            <a:ext cx="34747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Capture student profile, contact details and fee plan in one workflow.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46888" y="2075688"/>
            <a:ext cx="55321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46888" y="2075688"/>
            <a:ext cx="553212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8328" y="2121408"/>
            <a:ext cx="53492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Personal Details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2368296"/>
            <a:ext cx="182880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Full Name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2505456"/>
            <a:ext cx="182880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Priya Deshmukh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50008" y="2368296"/>
            <a:ext cx="105156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DOB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50008" y="2505456"/>
            <a:ext cx="105156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14-03-2008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93008" y="2368296"/>
            <a:ext cx="9601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Gender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93008" y="2505456"/>
            <a:ext cx="96012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Female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62856" y="2368296"/>
            <a:ext cx="10058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Class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62856" y="2505456"/>
            <a:ext cx="10058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2971800"/>
            <a:ext cx="182880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Board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1480" y="3108960"/>
            <a:ext cx="182880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CBSE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16168" y="2075688"/>
            <a:ext cx="5532120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916168" y="2075688"/>
            <a:ext cx="553212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007608" y="2121408"/>
            <a:ext cx="53492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Previous Education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80760" y="2368296"/>
            <a:ext cx="29260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Previous School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80760" y="2505456"/>
            <a:ext cx="29260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Vidya Niketan Jr. College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34856" y="2368296"/>
            <a:ext cx="196596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Previous Marks 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134856" y="2505456"/>
            <a:ext cx="196596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88.4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46888" y="3703320"/>
            <a:ext cx="745236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46888" y="3703320"/>
            <a:ext cx="74523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8328" y="3749039"/>
            <a:ext cx="72694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Contact Details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3995928"/>
            <a:ext cx="17830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Student Mobile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11480" y="4133088"/>
            <a:ext cx="17830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9876543210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04288" y="3995928"/>
            <a:ext cx="17830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Alt Mobile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2304288" y="4133088"/>
            <a:ext cx="17830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9765432109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97096" y="3995928"/>
            <a:ext cx="31546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Student Email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197096" y="4133088"/>
            <a:ext cx="31546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priya.deshmukh@gmail.com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11480" y="4599432"/>
            <a:ext cx="23317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Parent Name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4736592"/>
            <a:ext cx="233172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Ramesh Deshmukh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852928" y="4599432"/>
            <a:ext cx="17830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Parent Mobile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2852928" y="4736592"/>
            <a:ext cx="17830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9822334455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45736" y="4599432"/>
            <a:ext cx="26060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Address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4745736" y="4736592"/>
            <a:ext cx="26060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Nashik Road, Maharashtra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836408" y="3703320"/>
            <a:ext cx="3611880" cy="2011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7836408" y="3703320"/>
            <a:ext cx="361188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27848" y="3749039"/>
            <a:ext cx="34290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Photo &amp; Fee Plan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065008" y="4041648"/>
            <a:ext cx="960120" cy="100584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165592" y="4398264"/>
            <a:ext cx="749808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19" b="1">
                <a:solidFill>
                  <a:srgbClr val="145336"/>
                </a:solidFill>
                <a:latin typeface="Segoe UI"/>
              </a:rPr>
              <a:t>Photo
Preview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189719" y="3995928"/>
            <a:ext cx="20116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Fee Slab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189719" y="4133088"/>
            <a:ext cx="20116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Quarterly ₹2700/m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189719" y="4599432"/>
            <a:ext cx="20116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Upload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189719" y="4736592"/>
            <a:ext cx="20116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student_photo.jpg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96528" y="5184648"/>
            <a:ext cx="2331720" cy="384048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050" b="1">
                <a:solidFill>
                  <a:srgbClr val="FFFFFF"/>
                </a:solidFill>
                <a:latin typeface="Segoe UI"/>
              </a:rPr>
              <a:t>Register Student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Students List (students.jsp)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10/28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Admissions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3732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9612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4868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7224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Materials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3900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Tickets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6888" y="1362456"/>
            <a:ext cx="219456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Admitted Students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87168" y="1380744"/>
            <a:ext cx="960120" cy="21945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142 students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204703" y="1362456"/>
            <a:ext cx="160020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+ New Admission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6888" y="1655064"/>
            <a:ext cx="30175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Search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" y="1792224"/>
            <a:ext cx="301752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Search admission number / name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" y="2203704"/>
            <a:ext cx="58475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" y="2240280"/>
            <a:ext cx="54818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1646" y="2203704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934" y="2240280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Admission 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235067" y="2203704"/>
            <a:ext cx="210513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53355" y="2240280"/>
            <a:ext cx="206855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40199" y="2203704"/>
            <a:ext cx="105256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358487" y="2240280"/>
            <a:ext cx="101598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Class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392765" y="2203704"/>
            <a:ext cx="93561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11053" y="2240280"/>
            <a:ext cx="89903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Board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8379" y="2203704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46667" y="2240280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Mobile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731800" y="2203704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50088" y="2240280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Parent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35221" y="2203704"/>
            <a:ext cx="1286469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53509" y="2240280"/>
            <a:ext cx="1249893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Fee Slab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421691" y="2203704"/>
            <a:ext cx="1520372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439979" y="2240280"/>
            <a:ext cx="148379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Registered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46888" y="2514600"/>
            <a:ext cx="58475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74320" y="2532888"/>
            <a:ext cx="529894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31646" y="2514600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078" y="2532888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HNS-2025-001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35067" y="2514600"/>
            <a:ext cx="210513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62499" y="2532888"/>
            <a:ext cx="205026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Priya Deshmukh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0199" y="2514600"/>
            <a:ext cx="105256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67631" y="2532888"/>
            <a:ext cx="997701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92765" y="2514600"/>
            <a:ext cx="935614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20197" y="2532888"/>
            <a:ext cx="88075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CBSE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328379" y="2514600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811" y="2532888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9876543210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731800" y="2514600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59232" y="2532888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Ramesh D.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135221" y="2514600"/>
            <a:ext cx="1286469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162653" y="2532888"/>
            <a:ext cx="1231605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Monthly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421691" y="2514600"/>
            <a:ext cx="1520372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449123" y="2532888"/>
            <a:ext cx="14655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01 Jun 2025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888" y="2953512"/>
            <a:ext cx="584758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2971800"/>
            <a:ext cx="529894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1646" y="2953512"/>
            <a:ext cx="1403421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9078" y="2971800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HNS-2025-002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235067" y="2953512"/>
            <a:ext cx="2105131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262499" y="2971800"/>
            <a:ext cx="205026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Arjun Sharma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40199" y="2953512"/>
            <a:ext cx="1052565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367631" y="2971800"/>
            <a:ext cx="997701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11th PCM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392765" y="2953512"/>
            <a:ext cx="935614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420197" y="2971800"/>
            <a:ext cx="88075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State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328379" y="2953512"/>
            <a:ext cx="1403421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55811" y="2971800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9765432109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731800" y="2953512"/>
            <a:ext cx="1403421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759232" y="2971800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Suresh S.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35221" y="2953512"/>
            <a:ext cx="1286469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62653" y="2971800"/>
            <a:ext cx="1231605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Quarterly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421691" y="2953512"/>
            <a:ext cx="1520372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449123" y="2971800"/>
            <a:ext cx="14655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05 Jun 2025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46888" y="3392424"/>
            <a:ext cx="58475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4320" y="3410712"/>
            <a:ext cx="529894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31646" y="3392424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9078" y="3410712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HNS-2025-003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35067" y="3392424"/>
            <a:ext cx="210513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62499" y="3410712"/>
            <a:ext cx="205026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Meera Tiwari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340199" y="3392424"/>
            <a:ext cx="105256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67631" y="3410712"/>
            <a:ext cx="997701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92765" y="3392424"/>
            <a:ext cx="935614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20197" y="3410712"/>
            <a:ext cx="88075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CBSE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28379" y="3392424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811" y="3410712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9654321098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31800" y="3392424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59232" y="3410712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Vikram T.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135221" y="3392424"/>
            <a:ext cx="1286469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162653" y="3410712"/>
            <a:ext cx="1231605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Half-Yearly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421691" y="3392424"/>
            <a:ext cx="1520372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449123" y="3410712"/>
            <a:ext cx="14655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10 Jun 2025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6888" y="3831335"/>
            <a:ext cx="584758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4320" y="3849623"/>
            <a:ext cx="529894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4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1646" y="3831335"/>
            <a:ext cx="1403421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9078" y="3849623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HNS-2025-004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235067" y="3831335"/>
            <a:ext cx="2105131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62499" y="3849623"/>
            <a:ext cx="205026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Ravi Kumar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340199" y="3831335"/>
            <a:ext cx="1052565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367631" y="3849623"/>
            <a:ext cx="997701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11th PCB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392765" y="3831335"/>
            <a:ext cx="935614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420197" y="3849623"/>
            <a:ext cx="88075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ICSE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328379" y="3831335"/>
            <a:ext cx="1403421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355811" y="3849623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9543210987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731800" y="3831335"/>
            <a:ext cx="1403421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759232" y="3849623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Manoj K.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9135221" y="3831335"/>
            <a:ext cx="1286469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162653" y="3849623"/>
            <a:ext cx="1231605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Monthly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421691" y="3831335"/>
            <a:ext cx="1520372" cy="4389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10449123" y="3849623"/>
            <a:ext cx="14655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14 Jun 2025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46888" y="4270248"/>
            <a:ext cx="584758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74320" y="4288536"/>
            <a:ext cx="529894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31646" y="4270248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859078" y="4288536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HNS-2025-005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235067" y="4270248"/>
            <a:ext cx="210513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262499" y="4288536"/>
            <a:ext cx="205026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Anita Singh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4340199" y="4270248"/>
            <a:ext cx="1052565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4367631" y="4288536"/>
            <a:ext cx="997701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5392765" y="4270248"/>
            <a:ext cx="935614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5420197" y="4288536"/>
            <a:ext cx="880750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CBSE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6328379" y="4270248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6355811" y="4288536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9432109876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7731800" y="4270248"/>
            <a:ext cx="1403421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7759232" y="4288536"/>
            <a:ext cx="1348557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Rajesh S.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9135221" y="4270248"/>
            <a:ext cx="1286469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162653" y="4288536"/>
            <a:ext cx="1231605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Full Year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10421691" y="4270248"/>
            <a:ext cx="1520372" cy="4389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449123" y="4288536"/>
            <a:ext cx="1465508" cy="4023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20 Jun 2025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Fee Management List (fees.jsp)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11/28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6572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4356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9612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Materials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38644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Tickets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6888" y="1362456"/>
            <a:ext cx="192024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Fee Management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12848" y="1380744"/>
            <a:ext cx="932688" cy="21945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142 students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1709928"/>
            <a:ext cx="3657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6888" y="1709928"/>
            <a:ext cx="73152" cy="658368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" y="1783080"/>
            <a:ext cx="340156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Total Billed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" y="1965960"/>
            <a:ext cx="340156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₹5,24,400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041648" y="1709928"/>
            <a:ext cx="365760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41648" y="1709928"/>
            <a:ext cx="73152" cy="658368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69663" y="1783080"/>
            <a:ext cx="340156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Collected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9663" y="1965960"/>
            <a:ext cx="340156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₹4,32,000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36408" y="1709928"/>
            <a:ext cx="36118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836408" y="1709928"/>
            <a:ext cx="73152" cy="658368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64424" y="1783080"/>
            <a:ext cx="335584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Outstanding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64424" y="1965960"/>
            <a:ext cx="335584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₹92,400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6888" y="2505456"/>
            <a:ext cx="28346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Search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6888" y="2642616"/>
            <a:ext cx="283464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Search student / admission no.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64408" y="2505456"/>
            <a:ext cx="19202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Status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64408" y="2642616"/>
            <a:ext cx="192024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19" b="0">
                <a:solidFill>
                  <a:srgbClr val="1F2937"/>
                </a:solidFill>
                <a:latin typeface="Segoe UI"/>
              </a:rPr>
              <a:t>All / PAID / PARTIAL / PENDING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888" y="3008376"/>
            <a:ext cx="58475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5176" y="3044952"/>
            <a:ext cx="54818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1646" y="3008376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9934" y="3044952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Admission No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35067" y="3008376"/>
            <a:ext cx="187122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53355" y="3044952"/>
            <a:ext cx="183465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Name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06296" y="3008376"/>
            <a:ext cx="93561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24584" y="3044952"/>
            <a:ext cx="89903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Class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41910" y="3008376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60198" y="3044952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Plan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1427" y="3008376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229715" y="3044952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Total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380945" y="3008376"/>
            <a:ext cx="105256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99233" y="3044952"/>
            <a:ext cx="101598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Paid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433511" y="3008376"/>
            <a:ext cx="1286469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51799" y="3044952"/>
            <a:ext cx="1249893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Outstanding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719980" y="3008376"/>
            <a:ext cx="105256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38268" y="3044952"/>
            <a:ext cx="101598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772546" y="3008376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790834" y="3044952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6888" y="3319272"/>
            <a:ext cx="58475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4320" y="3337560"/>
            <a:ext cx="52989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31646" y="3319272"/>
            <a:ext cx="140342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078" y="3337560"/>
            <a:ext cx="134855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HNS-2025-001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35067" y="3319272"/>
            <a:ext cx="187122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262499" y="3337560"/>
            <a:ext cx="181636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Priya Deshmukh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106296" y="3319272"/>
            <a:ext cx="93561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33728" y="3337560"/>
            <a:ext cx="88075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41910" y="3319272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69342" y="3337560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Monthly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211427" y="3319272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238859" y="3337560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₹36,000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80945" y="3319272"/>
            <a:ext cx="1052565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08377" y="3337560"/>
            <a:ext cx="997701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₹36,000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433511" y="3319272"/>
            <a:ext cx="1286469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460943" y="3337560"/>
            <a:ext cx="1231605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719980" y="3319272"/>
            <a:ext cx="1052565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971943" y="3364991"/>
            <a:ext cx="548640" cy="31089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PAID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772546" y="3319272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1028121" y="3360420"/>
            <a:ext cx="658368" cy="32004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View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6888" y="3721608"/>
            <a:ext cx="584758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3739896"/>
            <a:ext cx="52989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31646" y="3721608"/>
            <a:ext cx="1403421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59078" y="3739896"/>
            <a:ext cx="134855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HNS-2025-002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235067" y="3721608"/>
            <a:ext cx="1871228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262499" y="3739896"/>
            <a:ext cx="181636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Arjun Sharma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106296" y="3721608"/>
            <a:ext cx="935614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133728" y="3739896"/>
            <a:ext cx="88075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11th PCM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41910" y="3721608"/>
            <a:ext cx="1169517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069342" y="3739896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Quarterly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11427" y="3721608"/>
            <a:ext cx="1169517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38859" y="3739896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₹24,300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380945" y="3721608"/>
            <a:ext cx="1052565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408377" y="3739896"/>
            <a:ext cx="997701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₹8,100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433511" y="3721608"/>
            <a:ext cx="1286469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460943" y="3739896"/>
            <a:ext cx="1231605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₹16,200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719980" y="3721608"/>
            <a:ext cx="1052565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9894219" y="3767328"/>
            <a:ext cx="704088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145336"/>
                </a:solidFill>
                <a:latin typeface="Segoe UI"/>
              </a:rPr>
              <a:t>PARTIAL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772546" y="3721608"/>
            <a:ext cx="1169517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996117" y="3762756"/>
            <a:ext cx="722376" cy="32004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Collect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46888" y="4123944"/>
            <a:ext cx="58475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74320" y="4142232"/>
            <a:ext cx="52989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31646" y="4123944"/>
            <a:ext cx="140342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59078" y="4142232"/>
            <a:ext cx="134855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HNS-2025-003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235067" y="4123944"/>
            <a:ext cx="187122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62499" y="4142232"/>
            <a:ext cx="181636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Meera Tiwari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106296" y="4123944"/>
            <a:ext cx="93561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133728" y="4142232"/>
            <a:ext cx="88075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5041910" y="4123944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069342" y="4142232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Half-Yearly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6211427" y="4123944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238859" y="4142232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₹30,000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7380945" y="4123944"/>
            <a:ext cx="1052565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08377" y="4142232"/>
            <a:ext cx="997701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₹15,000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433511" y="4123944"/>
            <a:ext cx="1286469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460943" y="4142232"/>
            <a:ext cx="1231605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₹15,000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9719980" y="4123944"/>
            <a:ext cx="1052565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9894219" y="4169664"/>
            <a:ext cx="704088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145336"/>
                </a:solidFill>
                <a:latin typeface="Segoe UI"/>
              </a:rPr>
              <a:t>PARTIAL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10772546" y="4123944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0996117" y="4165092"/>
            <a:ext cx="722376" cy="32004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Collect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46888" y="4526280"/>
            <a:ext cx="584758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74320" y="4544568"/>
            <a:ext cx="52989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4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831646" y="4526280"/>
            <a:ext cx="1403421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59078" y="4544568"/>
            <a:ext cx="134855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HNS-2025-004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2235067" y="4526280"/>
            <a:ext cx="1871228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2262499" y="4544568"/>
            <a:ext cx="181636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Ravi Kumar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106296" y="4526280"/>
            <a:ext cx="935614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133728" y="4544568"/>
            <a:ext cx="88075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11th PCB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41910" y="4526280"/>
            <a:ext cx="1169517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069342" y="4544568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Monthly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6211427" y="4526280"/>
            <a:ext cx="1169517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6238859" y="4544568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₹36,000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7380945" y="4526280"/>
            <a:ext cx="1052565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408377" y="4544568"/>
            <a:ext cx="997701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₹0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8433511" y="4526280"/>
            <a:ext cx="1286469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8460943" y="4544568"/>
            <a:ext cx="1231605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₹36,000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9719980" y="4526280"/>
            <a:ext cx="1052565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9894219" y="4572000"/>
            <a:ext cx="704088" cy="310896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PENDING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0772546" y="4526280"/>
            <a:ext cx="1169517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10996117" y="4567428"/>
            <a:ext cx="722376" cy="32004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Collect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246888" y="4928616"/>
            <a:ext cx="58475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74320" y="4946904"/>
            <a:ext cx="52989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5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831646" y="4928616"/>
            <a:ext cx="140342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859078" y="4946904"/>
            <a:ext cx="134855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HNS-2025-005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2235067" y="4928616"/>
            <a:ext cx="187122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262499" y="4946904"/>
            <a:ext cx="181636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Anita Singh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4106296" y="4928616"/>
            <a:ext cx="93561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4133728" y="4946904"/>
            <a:ext cx="88075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041910" y="4928616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069342" y="4946904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Full Year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6211427" y="4928616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6238859" y="4946904"/>
            <a:ext cx="111465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₹27,600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7380945" y="4928616"/>
            <a:ext cx="1052565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408377" y="4946904"/>
            <a:ext cx="997701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₹27,600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8433511" y="4928616"/>
            <a:ext cx="1286469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8460943" y="4946904"/>
            <a:ext cx="1231605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₹0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9719980" y="4928616"/>
            <a:ext cx="1052565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ounded Rectangle 163"/>
          <p:cNvSpPr/>
          <p:nvPr/>
        </p:nvSpPr>
        <p:spPr>
          <a:xfrm>
            <a:off x="9971943" y="4974336"/>
            <a:ext cx="548640" cy="31089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PAID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10772546" y="4928616"/>
            <a:ext cx="116951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ounded Rectangle 165"/>
          <p:cNvSpPr/>
          <p:nvPr/>
        </p:nvSpPr>
        <p:spPr>
          <a:xfrm>
            <a:off x="11028121" y="4969764"/>
            <a:ext cx="658368" cy="32004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Collect Payment (collect.jsp)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12/28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6572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4356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9612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" y="1362456"/>
            <a:ext cx="192024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Collect Payment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" y="1691640"/>
            <a:ext cx="3749039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6888" y="1691640"/>
            <a:ext cx="3749039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1737360"/>
            <a:ext cx="3566159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Student Details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" y="2075688"/>
            <a:ext cx="32918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F2937"/>
                </a:solidFill>
                <a:latin typeface="Segoe UI"/>
              </a:rPr>
              <a:t>Name: Arjun Sharma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2304288"/>
            <a:ext cx="32918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Segoe UI"/>
              </a:rPr>
              <a:t>Admission No: HNS-2025-002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" y="2532888"/>
            <a:ext cx="32918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Segoe UI"/>
              </a:rPr>
              <a:t>Class: 11th PCM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" y="2761488"/>
            <a:ext cx="32918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19" b="0">
                <a:solidFill>
                  <a:srgbClr val="1F2937"/>
                </a:solidFill>
                <a:latin typeface="Segoe UI"/>
              </a:rPr>
              <a:t>Plan: Quarterly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3008376"/>
            <a:ext cx="3419856" cy="475488"/>
          </a:xfrm>
          <a:prstGeom prst="roundRect">
            <a:avLst>
              <a:gd name="adj" fmla="val 12000"/>
            </a:avLst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3118104"/>
            <a:ext cx="31546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50" b="1">
                <a:solidFill>
                  <a:srgbClr val="F4C542"/>
                </a:solidFill>
                <a:latin typeface="Segoe UI"/>
              </a:rPr>
              <a:t>Total ₹24,300   |   Paid ₹8,100   |   Outstanding ₹16,200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24527" y="1691640"/>
            <a:ext cx="7223760" cy="19385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24527" y="1691640"/>
            <a:ext cx="72237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15967" y="1737360"/>
            <a:ext cx="70408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Record 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07408" y="2075688"/>
            <a:ext cx="14173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Amount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407408" y="2212848"/>
            <a:ext cx="141732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8100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61888" y="2075688"/>
            <a:ext cx="21031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Payment Mode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61888" y="2212848"/>
            <a:ext cx="210312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760" b="0">
                <a:solidFill>
                  <a:srgbClr val="1F2937"/>
                </a:solidFill>
                <a:latin typeface="Segoe UI"/>
              </a:rPr>
              <a:t>Cash / UPI / Bank Transfer / Card / Cheque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02167" y="2075688"/>
            <a:ext cx="12344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Payment Date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02167" y="2212848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05-07-2026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73767" y="2075688"/>
            <a:ext cx="16916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Remarks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573767" y="2212848"/>
            <a:ext cx="16916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July installment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407408" y="2807208"/>
            <a:ext cx="3154680" cy="384048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10" b="1">
                <a:solidFill>
                  <a:srgbClr val="FFFFFF"/>
                </a:solidFill>
                <a:latin typeface="Segoe UI"/>
              </a:rPr>
              <a:t>💾 Record Manual Payment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44967" y="2807208"/>
            <a:ext cx="3063240" cy="384048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910" b="1">
                <a:solidFill>
                  <a:srgbClr val="FFFFFF"/>
                </a:solidFill>
                <a:latin typeface="Segoe UI"/>
              </a:rPr>
              <a:t>💳 Pay Online via Razorpay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46888" y="3849624"/>
            <a:ext cx="11201400" cy="2240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46888" y="3849624"/>
            <a:ext cx="112014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8328" y="3895344"/>
            <a:ext cx="110185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Payment History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4197096"/>
            <a:ext cx="239188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29768" y="4233672"/>
            <a:ext cx="235531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Receipt No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3367" y="4197096"/>
            <a:ext cx="173955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21655" y="4233672"/>
            <a:ext cx="170297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Amount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42922" y="4197096"/>
            <a:ext cx="195699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61210" y="4233672"/>
            <a:ext cx="192042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Mode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99920" y="4197096"/>
            <a:ext cx="2174443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18208" y="4233672"/>
            <a:ext cx="2137867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Date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674364" y="4197096"/>
            <a:ext cx="260933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92652" y="4233672"/>
            <a:ext cx="257275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Collected By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1480" y="4507992"/>
            <a:ext cx="239188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4526279"/>
            <a:ext cx="233702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RCPT-2401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03367" y="4507992"/>
            <a:ext cx="173955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30799" y="4526279"/>
            <a:ext cx="168469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₹8,100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42922" y="4507992"/>
            <a:ext cx="195699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0354" y="4526279"/>
            <a:ext cx="190213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UPI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99920" y="4507992"/>
            <a:ext cx="2174443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527352" y="4526279"/>
            <a:ext cx="2119579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03 Jul 2026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74364" y="4507992"/>
            <a:ext cx="260933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01796" y="4526279"/>
            <a:ext cx="255446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11480" y="4910328"/>
            <a:ext cx="2391887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38912" y="4928616"/>
            <a:ext cx="233702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RCPT-2278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803367" y="4910328"/>
            <a:ext cx="1739554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830799" y="4928616"/>
            <a:ext cx="168469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₹4,050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542922" y="4910328"/>
            <a:ext cx="1956998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70354" y="4928616"/>
            <a:ext cx="190213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Cash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99920" y="4910328"/>
            <a:ext cx="2174443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527352" y="4928616"/>
            <a:ext cx="2119579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03 Apr 2026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674364" y="4910328"/>
            <a:ext cx="2609331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701796" y="4928616"/>
            <a:ext cx="255446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11480" y="5312664"/>
            <a:ext cx="239188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38912" y="5330952"/>
            <a:ext cx="233702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RCPT-2144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803367" y="5312664"/>
            <a:ext cx="1739554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30799" y="5330952"/>
            <a:ext cx="1684690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₹4,050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42922" y="5312664"/>
            <a:ext cx="1956998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0354" y="5330952"/>
            <a:ext cx="1902134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Razorpay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499920" y="5312664"/>
            <a:ext cx="2174443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527352" y="5330952"/>
            <a:ext cx="2119579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05 Jan 2026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74364" y="5312664"/>
            <a:ext cx="260933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01796" y="5330952"/>
            <a:ext cx="255446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system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Payment Receipt (receipt.jsp)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13/28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6572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4356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Receipts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387584" y="1362456"/>
            <a:ext cx="1417320" cy="274320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🖨️ Print Receipt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98448" y="1636776"/>
            <a:ext cx="909828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298448" y="1636776"/>
            <a:ext cx="9098280" cy="512064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463039" y="1737360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99616" y="1764792"/>
            <a:ext cx="237744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4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65376" y="1746504"/>
            <a:ext cx="411480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Havellsson NEET Samrat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65376" y="1911095"/>
            <a:ext cx="39319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Segoe UI"/>
              </a:rPr>
              <a:t>Tuition Management System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98448" y="2148840"/>
            <a:ext cx="9098280" cy="25603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99616" y="2194560"/>
            <a:ext cx="27432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145336"/>
                </a:solidFill>
                <a:latin typeface="Segoe UI"/>
              </a:rPr>
              <a:t>PAYMENT RECEIPT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2478024"/>
            <a:ext cx="21488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69" b="1">
                <a:solidFill>
                  <a:srgbClr val="1F2937"/>
                </a:solidFill>
                <a:latin typeface="Segoe UI"/>
              </a:rPr>
              <a:t>Receipt No: RCPT-2401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19288" y="2679191"/>
            <a:ext cx="21488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969" b="0">
                <a:solidFill>
                  <a:srgbClr val="1F2937"/>
                </a:solidFill>
                <a:latin typeface="Segoe UI"/>
              </a:rPr>
              <a:t>Date: 05 Jul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72768" y="2505456"/>
            <a:ext cx="38404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Segoe UI"/>
              </a:rPr>
              <a:t>Student Name: Arjun Sharma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72768" y="2724912"/>
            <a:ext cx="38404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Segoe UI"/>
              </a:rPr>
              <a:t>Admission No: HNS-2025-002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72768" y="2944368"/>
            <a:ext cx="38404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Segoe UI"/>
              </a:rPr>
              <a:t>Class: 11th PCM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72768" y="3163824"/>
            <a:ext cx="38404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Segoe UI"/>
              </a:rPr>
              <a:t>Payment Mode: UPI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72768" y="3383280"/>
            <a:ext cx="38404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69" b="0">
                <a:solidFill>
                  <a:srgbClr val="1F2937"/>
                </a:solidFill>
                <a:latin typeface="Segoe UI"/>
              </a:rPr>
              <a:t>Collected By: admin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64808" y="2752344"/>
            <a:ext cx="2697480" cy="98755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03136" y="2953512"/>
            <a:ext cx="2011680" cy="2560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2400" b="1">
                <a:solidFill>
                  <a:srgbClr val="145336"/>
                </a:solidFill>
                <a:latin typeface="Segoe UI"/>
              </a:rPr>
              <a:t>₹ 8,100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84848" y="3300984"/>
            <a:ext cx="20574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4B5563"/>
                </a:solidFill>
                <a:latin typeface="Segoe UI"/>
              </a:rPr>
              <a:t>Amount Paid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72768" y="3968496"/>
            <a:ext cx="2067001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91056" y="4005072"/>
            <a:ext cx="2030425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Total Fee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39769" y="3968496"/>
            <a:ext cx="2067001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8057" y="4005072"/>
            <a:ext cx="2030425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Paid to Date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06770" y="3968496"/>
            <a:ext cx="2129637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25058" y="4005072"/>
            <a:ext cx="2093061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Outstanding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572768" y="4261104"/>
            <a:ext cx="206700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00200" y="4279392"/>
            <a:ext cx="201213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₹24,300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39769" y="4261104"/>
            <a:ext cx="206700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67201" y="4279392"/>
            <a:ext cx="201213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₹16,200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06770" y="4261104"/>
            <a:ext cx="212963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34202" y="4279392"/>
            <a:ext cx="207477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₹8,100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01368" y="5367528"/>
            <a:ext cx="19202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____________________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21408" y="5550408"/>
            <a:ext cx="14630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Segoe UI"/>
              </a:rPr>
              <a:t>Student / Parent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62088" y="5367528"/>
            <a:ext cx="192024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____________________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36408" y="5550408"/>
            <a:ext cx="16002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Segoe UI"/>
              </a:rPr>
              <a:t>Authorized Signatory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07408" y="5705856"/>
            <a:ext cx="2926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145336"/>
                </a:solidFill>
                <a:latin typeface="Segoe UI"/>
              </a:rPr>
              <a:t>Thank you for your payment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Attendance Marking (attendance.jsp)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14/28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6572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4356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Attendance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9612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Reports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" y="1362456"/>
            <a:ext cx="201168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Mark Attendance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" y="1655064"/>
            <a:ext cx="128016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Date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" y="1792224"/>
            <a:ext cx="128016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2026-07-05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1655064"/>
            <a:ext cx="12344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Class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64208" y="1792224"/>
            <a:ext cx="123444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12th-PCB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35808" y="1673352"/>
            <a:ext cx="73152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Load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858768" y="1673352"/>
            <a:ext cx="1143000" cy="256032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30" b="1">
                <a:solidFill>
                  <a:srgbClr val="FFFFFF"/>
                </a:solidFill>
                <a:latin typeface="Segoe UI"/>
              </a:rPr>
              <a:t>📊 View Report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" y="2167128"/>
            <a:ext cx="58475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" y="2203704"/>
            <a:ext cx="54818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1646" y="2167128"/>
            <a:ext cx="3274649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9934" y="2203704"/>
            <a:ext cx="3238073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Student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06296" y="2167128"/>
            <a:ext cx="163732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24584" y="2203704"/>
            <a:ext cx="160074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Admission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43620" y="2167128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1908" y="2203704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Class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13138" y="2167128"/>
            <a:ext cx="502892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31426" y="2203704"/>
            <a:ext cx="499234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" y="2478024"/>
            <a:ext cx="584758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2496312"/>
            <a:ext cx="529894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1646" y="2478024"/>
            <a:ext cx="3274649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078" y="2496312"/>
            <a:ext cx="3219785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Priya Deshmukh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06296" y="2478024"/>
            <a:ext cx="1637324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33728" y="2496312"/>
            <a:ext cx="1582460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HNS-001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43620" y="2478024"/>
            <a:ext cx="1169517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71052" y="2496312"/>
            <a:ext cx="1114653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913138" y="2478024"/>
            <a:ext cx="5028925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940570" y="2496312"/>
            <a:ext cx="4974061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●P   ○A   ○Late   ○Leave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" y="2962656"/>
            <a:ext cx="584758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4320" y="2980944"/>
            <a:ext cx="529894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1646" y="2962656"/>
            <a:ext cx="3274649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078" y="2980944"/>
            <a:ext cx="3219785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Arjun Sharma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06296" y="2962656"/>
            <a:ext cx="1637324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33728" y="2980944"/>
            <a:ext cx="1582460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HNS-002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43620" y="2962656"/>
            <a:ext cx="1169517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71052" y="2980944"/>
            <a:ext cx="1114653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11PCM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13138" y="2962656"/>
            <a:ext cx="5028925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940570" y="2980944"/>
            <a:ext cx="4974061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○P   ○A   ●Late   ○Leave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" y="3447288"/>
            <a:ext cx="584758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74320" y="3465576"/>
            <a:ext cx="529894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31646" y="3447288"/>
            <a:ext cx="3274649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9078" y="3465576"/>
            <a:ext cx="3219785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Meera Tiwari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06296" y="3447288"/>
            <a:ext cx="1637324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33728" y="3465576"/>
            <a:ext cx="1582460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HNS-003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43620" y="3447288"/>
            <a:ext cx="1169517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71052" y="3465576"/>
            <a:ext cx="1114653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13138" y="3447288"/>
            <a:ext cx="5028925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40570" y="3465576"/>
            <a:ext cx="4974061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○P   ●A   ○Late   ○Leave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" y="3931920"/>
            <a:ext cx="584758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3950208"/>
            <a:ext cx="529894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4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1646" y="3931920"/>
            <a:ext cx="3274649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9078" y="3950208"/>
            <a:ext cx="3219785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Ravi Kumar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106296" y="3931920"/>
            <a:ext cx="1637324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133728" y="3950208"/>
            <a:ext cx="1582460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HNS-004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43620" y="3931920"/>
            <a:ext cx="1169517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71052" y="3950208"/>
            <a:ext cx="1114653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13138" y="3931920"/>
            <a:ext cx="5028925" cy="48463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940570" y="3950208"/>
            <a:ext cx="4974061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●P   ○A   ○Late   ○Leave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6888" y="4416552"/>
            <a:ext cx="584758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4434840"/>
            <a:ext cx="529894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1646" y="4416552"/>
            <a:ext cx="3274649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9078" y="4434840"/>
            <a:ext cx="3219785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Anita Singh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106296" y="4416552"/>
            <a:ext cx="1637324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133728" y="4434840"/>
            <a:ext cx="1582460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HNS-005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743620" y="4416552"/>
            <a:ext cx="1169517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71052" y="4434840"/>
            <a:ext cx="1114653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93" name="Rectangle 92"/>
          <p:cNvSpPr/>
          <p:nvPr/>
        </p:nvSpPr>
        <p:spPr>
          <a:xfrm>
            <a:off x="6913138" y="4416552"/>
            <a:ext cx="5028925" cy="48463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940570" y="4434840"/>
            <a:ext cx="4974061" cy="4480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●P   ○A   ○Late   ○Leave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246888" y="4910328"/>
            <a:ext cx="11695176" cy="457200"/>
          </a:xfrm>
          <a:prstGeom prst="roundRect">
            <a:avLst>
              <a:gd name="adj" fmla="val 12000"/>
            </a:avLst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411480" y="5001768"/>
            <a:ext cx="1417320" cy="274320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145336"/>
                </a:solidFill>
                <a:latin typeface="Segoe UI"/>
              </a:rPr>
              <a:t>Mark all Present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10250424" y="5001768"/>
            <a:ext cx="1508760" cy="274320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FFFFFF"/>
                </a:solidFill>
                <a:latin typeface="Segoe UI"/>
              </a:rPr>
              <a:t>💾 Save Attendance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Attendance Report (attendance_report.jsp)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15/28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1373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13248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" y="1362456"/>
            <a:ext cx="219456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Attendance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" y="1655064"/>
            <a:ext cx="13258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Class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" y="1792224"/>
            <a:ext cx="132588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12th PCB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9928" y="1655064"/>
            <a:ext cx="13258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Date From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709928" y="1792224"/>
            <a:ext cx="132588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2026-06-01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72968" y="1655064"/>
            <a:ext cx="13258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Date To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72968" y="1792224"/>
            <a:ext cx="132588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2026-07-05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636008" y="1673352"/>
            <a:ext cx="109728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Load Report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6888" y="2167128"/>
            <a:ext cx="11695176" cy="475488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" y="2295144"/>
            <a:ext cx="80467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Total Students: 142   |   Days Marked: 42   |   Avg Present: 91.7%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6888" y="2807208"/>
            <a:ext cx="58475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5176" y="2843784"/>
            <a:ext cx="54818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1646" y="2807208"/>
            <a:ext cx="2455986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9934" y="2843784"/>
            <a:ext cx="2419410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Name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87633" y="2807208"/>
            <a:ext cx="1520372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05921" y="2843784"/>
            <a:ext cx="148379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Admission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08006" y="2807208"/>
            <a:ext cx="105256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26294" y="2843784"/>
            <a:ext cx="101598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Class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60572" y="2807208"/>
            <a:ext cx="105256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78860" y="2843784"/>
            <a:ext cx="101598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Present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13138" y="2807208"/>
            <a:ext cx="93561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931426" y="2843784"/>
            <a:ext cx="89903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Absent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848752" y="2807208"/>
            <a:ext cx="818662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867040" y="2843784"/>
            <a:ext cx="78208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Late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67414" y="2807208"/>
            <a:ext cx="818662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685702" y="2843784"/>
            <a:ext cx="78208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Leave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486077" y="2807208"/>
            <a:ext cx="93561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04365" y="2843784"/>
            <a:ext cx="89903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Total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21691" y="2807208"/>
            <a:ext cx="1520372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39979" y="2843784"/>
            <a:ext cx="148379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8" y="3118104"/>
            <a:ext cx="58475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3136392"/>
            <a:ext cx="529894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31646" y="3118104"/>
            <a:ext cx="245598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9078" y="3136392"/>
            <a:ext cx="240112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Priya Deshmukh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87633" y="3118104"/>
            <a:ext cx="152037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15065" y="3136392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HNS-001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808006" y="3118104"/>
            <a:ext cx="1052565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35438" y="3136392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60572" y="3118104"/>
            <a:ext cx="1052565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888004" y="3136392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40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913138" y="3118104"/>
            <a:ext cx="93561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940570" y="3136392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848752" y="3118104"/>
            <a:ext cx="81866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876184" y="3136392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67414" y="3118104"/>
            <a:ext cx="81866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694846" y="3136392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486077" y="3118104"/>
            <a:ext cx="93561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513509" y="3136392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42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421691" y="3118104"/>
            <a:ext cx="152037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449123" y="3136392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Segoe UI"/>
              </a:rPr>
              <a:t>95.2%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46888" y="3538728"/>
            <a:ext cx="584758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74320" y="3557016"/>
            <a:ext cx="529894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31646" y="3538728"/>
            <a:ext cx="2455986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59078" y="3557016"/>
            <a:ext cx="240112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Arjun Sharma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87633" y="3538728"/>
            <a:ext cx="152037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15065" y="3557016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HNS-002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808006" y="3538728"/>
            <a:ext cx="1052565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835438" y="3557016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11PCM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860572" y="3538728"/>
            <a:ext cx="1052565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88004" y="3557016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35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913138" y="3538728"/>
            <a:ext cx="935614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40570" y="3557016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4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848752" y="3538728"/>
            <a:ext cx="81866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876184" y="3557016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667414" y="3538728"/>
            <a:ext cx="81866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694846" y="3557016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86077" y="3538728"/>
            <a:ext cx="935614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513509" y="3557016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42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421691" y="3538728"/>
            <a:ext cx="152037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449123" y="3557016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F4C542"/>
                </a:solidFill>
                <a:latin typeface="Segoe UI"/>
              </a:rPr>
              <a:t>83.3%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46888" y="3959352"/>
            <a:ext cx="58475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3977639"/>
            <a:ext cx="529894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31646" y="3959352"/>
            <a:ext cx="245598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9078" y="3977639"/>
            <a:ext cx="240112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Meera Tiwari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287633" y="3959352"/>
            <a:ext cx="152037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315065" y="3977639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HNS-003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808006" y="3959352"/>
            <a:ext cx="1052565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835438" y="3977639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860572" y="3959352"/>
            <a:ext cx="1052565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888004" y="3977639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31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913138" y="3959352"/>
            <a:ext cx="93561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940570" y="3977639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8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48752" y="3959352"/>
            <a:ext cx="81866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76184" y="3977639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667414" y="3959352"/>
            <a:ext cx="81866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694846" y="3977639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486077" y="3959352"/>
            <a:ext cx="93561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513509" y="3977639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42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421691" y="3959352"/>
            <a:ext cx="152037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449123" y="3977639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D94A38"/>
                </a:solidFill>
                <a:latin typeface="Segoe UI"/>
              </a:rPr>
              <a:t>73.8%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6888" y="4379976"/>
            <a:ext cx="584758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74320" y="4398264"/>
            <a:ext cx="529894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4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31646" y="4379976"/>
            <a:ext cx="2455986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59078" y="4398264"/>
            <a:ext cx="240112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Ravi Kumar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287633" y="4379976"/>
            <a:ext cx="152037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315065" y="4398264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HNS-004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808006" y="4379976"/>
            <a:ext cx="1052565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835438" y="4398264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860572" y="4379976"/>
            <a:ext cx="1052565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888004" y="4398264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38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913138" y="4379976"/>
            <a:ext cx="935614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940570" y="4398264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848752" y="4379976"/>
            <a:ext cx="81866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876184" y="4398264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667414" y="4379976"/>
            <a:ext cx="81866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694846" y="4398264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486077" y="4379976"/>
            <a:ext cx="935614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13509" y="4398264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42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421691" y="4379976"/>
            <a:ext cx="1520372" cy="42062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449123" y="4398264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1A7A4A"/>
                </a:solidFill>
                <a:latin typeface="Segoe UI"/>
              </a:rPr>
              <a:t>90.5%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46888" y="4800600"/>
            <a:ext cx="58475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74320" y="4818888"/>
            <a:ext cx="529894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5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31646" y="4800600"/>
            <a:ext cx="245598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59078" y="4818888"/>
            <a:ext cx="240112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Anita Singh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287633" y="4800600"/>
            <a:ext cx="152037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315065" y="4818888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HNS-005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808006" y="4800600"/>
            <a:ext cx="1052565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835438" y="4818888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860572" y="4800600"/>
            <a:ext cx="1052565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888004" y="4818888"/>
            <a:ext cx="997701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36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913138" y="4800600"/>
            <a:ext cx="93561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40570" y="4818888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848752" y="4800600"/>
            <a:ext cx="81866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7876184" y="4818888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8667414" y="4800600"/>
            <a:ext cx="81866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8694846" y="4818888"/>
            <a:ext cx="76379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9486077" y="4800600"/>
            <a:ext cx="93561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9513509" y="4818888"/>
            <a:ext cx="880750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42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10421691" y="4800600"/>
            <a:ext cx="1520372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10449123" y="4818888"/>
            <a:ext cx="146550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F4C542"/>
                </a:solidFill>
                <a:latin typeface="Segoe UI"/>
              </a:rPr>
              <a:t>85.7%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Exam List (exams.jsp)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16/28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6572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1828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Exams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4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1362456"/>
            <a:ext cx="137160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Exams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89888" y="1380744"/>
            <a:ext cx="777240" cy="21945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12 exams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9024" y="1362456"/>
            <a:ext cx="132588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FFFFFF"/>
                </a:solidFill>
                <a:latin typeface="Segoe UI"/>
              </a:rPr>
              <a:t>+ Create Exam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" y="1673352"/>
            <a:ext cx="11695176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6888" y="1673352"/>
            <a:ext cx="11695176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1719072"/>
            <a:ext cx="11512296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Create Exam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1965960"/>
            <a:ext cx="19202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Exam Name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2103120"/>
            <a:ext cx="19202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NEET Mock July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59736" y="1965960"/>
            <a:ext cx="12344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Class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59736" y="2103120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31335" y="1965960"/>
            <a:ext cx="114300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Date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31335" y="2103120"/>
            <a:ext cx="114300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10-07-2026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11496" y="1965960"/>
            <a:ext cx="28346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Subjects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11496" y="2103120"/>
            <a:ext cx="28346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Physics, Chemistry, Biology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92440" y="1965960"/>
            <a:ext cx="13258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Max/Sub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2103120"/>
            <a:ext cx="13258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180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646919" y="1975104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💾 Save Exam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8" y="2715768"/>
            <a:ext cx="58475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65176" y="2752344"/>
            <a:ext cx="54818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1646" y="2715768"/>
            <a:ext cx="210513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9934" y="2752344"/>
            <a:ext cx="206855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Exam Name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36778" y="2715768"/>
            <a:ext cx="93561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55066" y="2752344"/>
            <a:ext cx="89903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Class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72392" y="2715768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90680" y="2752344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Date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75813" y="2715768"/>
            <a:ext cx="292379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94101" y="2752344"/>
            <a:ext cx="288721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Subjects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99607" y="2715768"/>
            <a:ext cx="93561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217895" y="2752344"/>
            <a:ext cx="89903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Max/Sub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35221" y="2715768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53509" y="2752344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Created By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304739" y="2715768"/>
            <a:ext cx="163732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323027" y="2752344"/>
            <a:ext cx="160074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46888" y="3026663"/>
            <a:ext cx="58475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3044951"/>
            <a:ext cx="529894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1646" y="3026663"/>
            <a:ext cx="2105131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59078" y="3044951"/>
            <a:ext cx="2050267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NEET Mock July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36778" y="3026663"/>
            <a:ext cx="93561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64210" y="3044951"/>
            <a:ext cx="88075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72392" y="3026663"/>
            <a:ext cx="1403421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99824" y="3044951"/>
            <a:ext cx="1348557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10 Jul 2026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275813" y="3026663"/>
            <a:ext cx="292379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5321533" y="3076956"/>
            <a:ext cx="553212" cy="40233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145336"/>
                </a:solidFill>
                <a:latin typeface="Segoe UI"/>
              </a:rPr>
              <a:t>Physics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911321" y="3076956"/>
            <a:ext cx="653796" cy="40233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145336"/>
                </a:solidFill>
                <a:latin typeface="Segoe UI"/>
              </a:rPr>
              <a:t>Chemistry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601693" y="3076956"/>
            <a:ext cx="553212" cy="40233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145336"/>
                </a:solidFill>
                <a:latin typeface="Segoe UI"/>
              </a:rPr>
              <a:t>Biology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199607" y="3026663"/>
            <a:ext cx="93561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227039" y="3044951"/>
            <a:ext cx="88075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180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135221" y="3026663"/>
            <a:ext cx="1169517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62653" y="3044951"/>
            <a:ext cx="1114653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304739" y="3026663"/>
            <a:ext cx="163732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506181" y="3067811"/>
            <a:ext cx="1234440" cy="42062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Marks | Results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46888" y="3529583"/>
            <a:ext cx="584758" cy="50292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4320" y="3547871"/>
            <a:ext cx="529894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31646" y="3529583"/>
            <a:ext cx="2105131" cy="50292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59078" y="3547871"/>
            <a:ext cx="2050267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Unit Test 1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936778" y="3529583"/>
            <a:ext cx="935614" cy="50292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64210" y="3547871"/>
            <a:ext cx="88075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872392" y="3529583"/>
            <a:ext cx="1403421" cy="50292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899824" y="3547871"/>
            <a:ext cx="1348557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15 Jun 2026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275813" y="3529583"/>
            <a:ext cx="2923794" cy="50292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5321533" y="3579875"/>
            <a:ext cx="553212" cy="40233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145336"/>
                </a:solidFill>
                <a:latin typeface="Segoe UI"/>
              </a:rPr>
              <a:t>Physics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911321" y="3579875"/>
            <a:ext cx="653796" cy="40233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145336"/>
                </a:solidFill>
                <a:latin typeface="Segoe UI"/>
              </a:rPr>
              <a:t>Chemistry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601693" y="3579875"/>
            <a:ext cx="553212" cy="40233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145336"/>
                </a:solidFill>
                <a:latin typeface="Segoe UI"/>
              </a:rPr>
              <a:t>Biology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199607" y="3529583"/>
            <a:ext cx="935614" cy="50292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227039" y="3547871"/>
            <a:ext cx="88075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100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135221" y="3529583"/>
            <a:ext cx="1169517" cy="50292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162653" y="3547871"/>
            <a:ext cx="1114653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0304739" y="3529583"/>
            <a:ext cx="1637324" cy="50292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506181" y="3570731"/>
            <a:ext cx="1234440" cy="42062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Marks | Results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46888" y="4032503"/>
            <a:ext cx="584758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74320" y="4050791"/>
            <a:ext cx="529894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31646" y="4032503"/>
            <a:ext cx="2105131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59078" y="4050791"/>
            <a:ext cx="2050267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Half-Yearly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936778" y="4032503"/>
            <a:ext cx="93561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64210" y="4050791"/>
            <a:ext cx="88075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11PCM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72392" y="4032503"/>
            <a:ext cx="1403421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899824" y="4050791"/>
            <a:ext cx="1348557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30 Jun 2026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275813" y="4032503"/>
            <a:ext cx="292379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321533" y="4082795"/>
            <a:ext cx="402336" cy="40233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145336"/>
                </a:solidFill>
                <a:latin typeface="Segoe UI"/>
              </a:rPr>
              <a:t>Math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5760445" y="4082795"/>
            <a:ext cx="553212" cy="402336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780" b="1">
                <a:solidFill>
                  <a:srgbClr val="145336"/>
                </a:solidFill>
                <a:latin typeface="Segoe UI"/>
              </a:rPr>
              <a:t>Physics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99607" y="4032503"/>
            <a:ext cx="93561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8227039" y="4050791"/>
            <a:ext cx="880750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100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135221" y="4032503"/>
            <a:ext cx="1169517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9162653" y="4050791"/>
            <a:ext cx="1114653" cy="4663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10304739" y="4032503"/>
            <a:ext cx="1637324" cy="50292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0506181" y="4073651"/>
            <a:ext cx="1234440" cy="42062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Marks | Results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Marks Entry (marks_entry.jsp)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17/28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0348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" y="1362456"/>
            <a:ext cx="448056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Enter Marks – NEET Mock July 2026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" y="1664208"/>
            <a:ext cx="11695176" cy="365760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9768" y="1764792"/>
            <a:ext cx="60350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1">
                <a:solidFill>
                  <a:srgbClr val="145336"/>
                </a:solidFill>
                <a:latin typeface="Segoe UI"/>
              </a:rPr>
              <a:t>Class: 12th PCB   |   Date: 10-Jul-2026   |   Max per Subject: 180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" y="2203704"/>
            <a:ext cx="58475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76" y="2240280"/>
            <a:ext cx="54818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1646" y="2203704"/>
            <a:ext cx="257293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9934" y="2240280"/>
            <a:ext cx="253636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Student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04585" y="2203704"/>
            <a:ext cx="210513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22873" y="2240280"/>
            <a:ext cx="206855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Physics(/180)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09717" y="2203704"/>
            <a:ext cx="210513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28005" y="2240280"/>
            <a:ext cx="206855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Chemistry(/180)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614848" y="2203704"/>
            <a:ext cx="210513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633136" y="2240280"/>
            <a:ext cx="206855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Biology(/180)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19980" y="2203704"/>
            <a:ext cx="105256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38268" y="2240280"/>
            <a:ext cx="101598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Total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772546" y="2203704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90834" y="2240280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" y="2514600"/>
            <a:ext cx="58475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2532888"/>
            <a:ext cx="52989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1646" y="2514600"/>
            <a:ext cx="257293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078" y="2532888"/>
            <a:ext cx="251807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Priya D.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04585" y="2514600"/>
            <a:ext cx="210513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2017" y="25328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[165]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09717" y="2514600"/>
            <a:ext cx="210513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37149" y="25328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[170]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14848" y="2514600"/>
            <a:ext cx="210513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42280" y="25328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[172]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719980" y="2514600"/>
            <a:ext cx="105256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747412" y="2532888"/>
            <a:ext cx="99770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507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772546" y="2514600"/>
            <a:ext cx="1169517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99978" y="2532888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93.9%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" y="2971800"/>
            <a:ext cx="584758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2990088"/>
            <a:ext cx="52989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1646" y="2971800"/>
            <a:ext cx="2572938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9078" y="2990088"/>
            <a:ext cx="251807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Arjun S.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04585" y="2971800"/>
            <a:ext cx="210513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32017" y="29900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[142]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09717" y="2971800"/>
            <a:ext cx="210513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37149" y="29900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[138]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614848" y="2971800"/>
            <a:ext cx="210513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642280" y="29900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[155]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719980" y="2971800"/>
            <a:ext cx="1052565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47412" y="2990088"/>
            <a:ext cx="99770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435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772546" y="2971800"/>
            <a:ext cx="1169517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799978" y="2990088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80.6%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888" y="3429000"/>
            <a:ext cx="58475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4320" y="3447288"/>
            <a:ext cx="52989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31646" y="3429000"/>
            <a:ext cx="257293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9078" y="3447288"/>
            <a:ext cx="251807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Meera T.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404585" y="3429000"/>
            <a:ext cx="210513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432017" y="34472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[120]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09717" y="3429000"/>
            <a:ext cx="210513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37149" y="34472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[115]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614848" y="3429000"/>
            <a:ext cx="210513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642280" y="3447288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[130]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719980" y="3429000"/>
            <a:ext cx="105256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747412" y="3447288"/>
            <a:ext cx="99770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365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772546" y="3429000"/>
            <a:ext cx="1169517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0799978" y="3447288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67.6%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6888" y="3886200"/>
            <a:ext cx="584758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74320" y="3904487"/>
            <a:ext cx="52989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31646" y="3886200"/>
            <a:ext cx="2572938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59078" y="3904487"/>
            <a:ext cx="251807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Ravi K.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04585" y="3886200"/>
            <a:ext cx="210513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32017" y="3904487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[158]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509717" y="3886200"/>
            <a:ext cx="210513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537149" y="3904487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[162]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614848" y="3886200"/>
            <a:ext cx="210513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642280" y="3904487"/>
            <a:ext cx="205026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[168]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719980" y="3886200"/>
            <a:ext cx="1052565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747412" y="3904487"/>
            <a:ext cx="99770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488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772546" y="3886200"/>
            <a:ext cx="1169517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799978" y="3904487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30" b="0">
                <a:solidFill>
                  <a:srgbClr val="1F2937"/>
                </a:solidFill>
                <a:latin typeface="Segoe UI"/>
              </a:rPr>
              <a:t>90.4%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10433303" y="4197096"/>
            <a:ext cx="1371600" cy="31089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💾 Save Marks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Results / Report Card (results.jsp + report_card.jsp)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18/28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0348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46888" y="1362456"/>
            <a:ext cx="507492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6888" y="1362456"/>
            <a:ext cx="507492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" y="1408176"/>
            <a:ext cx="48920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Results List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1746504"/>
            <a:ext cx="568391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1783080"/>
            <a:ext cx="531815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Rank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79871" y="1746504"/>
            <a:ext cx="1894636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8159" y="1783080"/>
            <a:ext cx="185806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Name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74507" y="1746504"/>
            <a:ext cx="757854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92795" y="1783080"/>
            <a:ext cx="721278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Total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32362" y="1746504"/>
            <a:ext cx="757854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0650" y="1783080"/>
            <a:ext cx="721278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90217" y="1746504"/>
            <a:ext cx="757854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08505" y="1783080"/>
            <a:ext cx="721278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Grade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2039112"/>
            <a:ext cx="568391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2057400"/>
            <a:ext cx="513527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79871" y="2039112"/>
            <a:ext cx="1894636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7303" y="2057400"/>
            <a:ext cx="1839772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Priya Deshmukh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74507" y="2039112"/>
            <a:ext cx="757854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01939" y="205740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507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32362" y="2039112"/>
            <a:ext cx="757854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9794" y="205740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93.9%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90217" y="2039112"/>
            <a:ext cx="757854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17649" y="205740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A+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2450592"/>
            <a:ext cx="568391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2468880"/>
            <a:ext cx="513527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79871" y="2450592"/>
            <a:ext cx="1894636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303" y="2468880"/>
            <a:ext cx="1839772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Ravi Kumar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74507" y="2450592"/>
            <a:ext cx="757854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1939" y="246888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488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32362" y="2450592"/>
            <a:ext cx="757854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9794" y="246888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90.4%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90217" y="2450592"/>
            <a:ext cx="757854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17649" y="246888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A+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1480" y="2862072"/>
            <a:ext cx="568391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2880360"/>
            <a:ext cx="513527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79871" y="2862072"/>
            <a:ext cx="1894636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7303" y="2880360"/>
            <a:ext cx="1839772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Arjun Sharma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74507" y="2862072"/>
            <a:ext cx="757854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01939" y="288036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435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632362" y="2862072"/>
            <a:ext cx="757854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659794" y="288036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80.6%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90217" y="2862072"/>
            <a:ext cx="757854" cy="41148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17649" y="288036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3273552"/>
            <a:ext cx="568391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38912" y="3291840"/>
            <a:ext cx="513527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7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79871" y="3273552"/>
            <a:ext cx="1894636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7303" y="3291840"/>
            <a:ext cx="1839772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Meera Tiwari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74507" y="3273552"/>
            <a:ext cx="757854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01939" y="329184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365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32362" y="3273552"/>
            <a:ext cx="757854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659794" y="329184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67.6%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390217" y="3273552"/>
            <a:ext cx="757854" cy="41148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17649" y="3291840"/>
            <a:ext cx="702990" cy="3749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0">
                <a:solidFill>
                  <a:srgbClr val="1F2937"/>
                </a:solidFill>
                <a:latin typeface="Segoe UI"/>
              </a:rPr>
              <a:t>B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550408" y="1362456"/>
            <a:ext cx="5897880" cy="4663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5550408" y="1362456"/>
            <a:ext cx="5897880" cy="420624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5687568" y="1435608"/>
            <a:ext cx="274320" cy="274320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715000" y="1472184"/>
            <a:ext cx="219456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3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44184" y="1463040"/>
            <a:ext cx="25603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Havellsson NEET Samrat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550408" y="1783080"/>
            <a:ext cx="5897880" cy="219456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33288" y="1819656"/>
            <a:ext cx="19202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REPORT CARD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733288" y="2130552"/>
            <a:ext cx="23774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Name: Priya Deshmukh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33288" y="2331720"/>
            <a:ext cx="23774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Admission No: HNS-001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733288" y="2532888"/>
            <a:ext cx="23774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Class: 12th PCB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733288" y="2734056"/>
            <a:ext cx="23774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Exam: NEET Mock July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733288" y="3026664"/>
            <a:ext cx="1440180" cy="256032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751576" y="3063240"/>
            <a:ext cx="1403604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Subject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73468" y="3026664"/>
            <a:ext cx="617219" cy="256032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91756" y="3063240"/>
            <a:ext cx="580643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Marks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790688" y="3026664"/>
            <a:ext cx="548640" cy="256032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08976" y="3063240"/>
            <a:ext cx="512063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Max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339328" y="3026664"/>
            <a:ext cx="822959" cy="256032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357616" y="3063240"/>
            <a:ext cx="786383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733288" y="3282696"/>
            <a:ext cx="14401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760720" y="3300984"/>
            <a:ext cx="138531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Physics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173468" y="3282696"/>
            <a:ext cx="617219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200900" y="3300984"/>
            <a:ext cx="56235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165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790688" y="3282696"/>
            <a:ext cx="5486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818120" y="3300984"/>
            <a:ext cx="49377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180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339328" y="3282696"/>
            <a:ext cx="822959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366760" y="3300984"/>
            <a:ext cx="768095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Pass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733288" y="3611879"/>
            <a:ext cx="1440180" cy="32918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5760720" y="3630168"/>
            <a:ext cx="138531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Chemistry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173468" y="3611879"/>
            <a:ext cx="617219" cy="32918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200900" y="3630168"/>
            <a:ext cx="56235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170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790688" y="3611879"/>
            <a:ext cx="548640" cy="32918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818120" y="3630168"/>
            <a:ext cx="49377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180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339328" y="3611879"/>
            <a:ext cx="822959" cy="329184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366760" y="3630168"/>
            <a:ext cx="768095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Pass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733288" y="3941063"/>
            <a:ext cx="14401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760720" y="3959351"/>
            <a:ext cx="138531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Biology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173468" y="3941063"/>
            <a:ext cx="617219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200900" y="3959351"/>
            <a:ext cx="56235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172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790688" y="3941063"/>
            <a:ext cx="5486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818120" y="3959351"/>
            <a:ext cx="493776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180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339328" y="3941063"/>
            <a:ext cx="822959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366760" y="3959351"/>
            <a:ext cx="768095" cy="29260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Pass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390888" y="2295144"/>
            <a:ext cx="1554480" cy="932688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528048" y="2441448"/>
            <a:ext cx="128016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50" b="1">
                <a:solidFill>
                  <a:srgbClr val="145336"/>
                </a:solidFill>
                <a:latin typeface="Segoe UI"/>
              </a:rPr>
              <a:t>Total 507 / 540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528048" y="2660904"/>
            <a:ext cx="12801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Segoe UI"/>
              </a:rPr>
              <a:t>93.9% • Grade A+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528048" y="2880360"/>
            <a:ext cx="12801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19" b="0">
                <a:solidFill>
                  <a:srgbClr val="1F2937"/>
                </a:solidFill>
                <a:latin typeface="Segoe UI"/>
              </a:rPr>
              <a:t>Rank 1 / 28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528048" y="3392424"/>
            <a:ext cx="1097280" cy="31089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PASS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870448" y="5458968"/>
            <a:ext cx="1828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Segoe UI"/>
              </a:rPr>
              <a:t>__________________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44768" y="5641848"/>
            <a:ext cx="128016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Segoe UI"/>
              </a:rPr>
              <a:t>Parent Signature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36608" y="5458968"/>
            <a:ext cx="18288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1F2937"/>
                </a:solidFill>
                <a:latin typeface="Segoe UI"/>
              </a:rPr>
              <a:t>__________________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710928" y="5641848"/>
            <a:ext cx="12344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4B5563"/>
                </a:solidFill>
                <a:latin typeface="Segoe UI"/>
              </a:rPr>
              <a:t>Coordinator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Learning Materials Admin (materials_admin.jsp)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19/28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6572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5604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1362456"/>
            <a:ext cx="192024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Learning Materials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15984" y="1362456"/>
            <a:ext cx="132588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FFFFFF"/>
                </a:solidFill>
                <a:latin typeface="Segoe UI"/>
              </a:rPr>
              <a:t>+ Upload PDF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9024" y="1362456"/>
            <a:ext cx="1325880" cy="256032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FFFFFF"/>
                </a:solidFill>
                <a:latin typeface="Segoe UI"/>
              </a:rPr>
              <a:t>+ Add Video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" y="1682495"/>
            <a:ext cx="116951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6888" y="1682495"/>
            <a:ext cx="11695176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1728216"/>
            <a:ext cx="11512296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Upload / Add Content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1975104"/>
            <a:ext cx="228600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Title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2112264"/>
            <a:ext cx="228600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NEET Biology Ch.5 Notes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25496" y="1975104"/>
            <a:ext cx="105156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Class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25496" y="2112264"/>
            <a:ext cx="105156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4216" y="1975104"/>
            <a:ext cx="12344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Subject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14216" y="2112264"/>
            <a:ext cx="12344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Biology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85816" y="1975104"/>
            <a:ext cx="10972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Type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85816" y="2112264"/>
            <a:ext cx="10972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PDF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20256" y="1975104"/>
            <a:ext cx="297180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File / YouTube URL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620256" y="2112264"/>
            <a:ext cx="297180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neet-bio-ch5-notes.pdf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" y="2688336"/>
            <a:ext cx="58475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2724912"/>
            <a:ext cx="54818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#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31646" y="2688336"/>
            <a:ext cx="304074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9934" y="2724912"/>
            <a:ext cx="300416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Title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872392" y="2688336"/>
            <a:ext cx="1052565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890680" y="2724912"/>
            <a:ext cx="1015989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Class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24958" y="2688336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43246" y="2724912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Subject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8379" y="2688336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46667" y="2724912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Type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7897" y="2688336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16185" y="2724912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Uploaded By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01318" y="2688336"/>
            <a:ext cx="1169517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19606" y="2724912"/>
            <a:ext cx="1132941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70835" y="2688336"/>
            <a:ext cx="1871228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89123" y="2724912"/>
            <a:ext cx="1834652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888" y="2999232"/>
            <a:ext cx="58475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4320" y="3017520"/>
            <a:ext cx="52989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31646" y="2999232"/>
            <a:ext cx="304074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59078" y="3017520"/>
            <a:ext cx="298588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NEET Biology Ch.5 Notes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872392" y="2999232"/>
            <a:ext cx="105256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899824" y="3017520"/>
            <a:ext cx="99770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12PCB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924958" y="2999232"/>
            <a:ext cx="140342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952390" y="3017520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Biology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328379" y="2999232"/>
            <a:ext cx="1169517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355811" y="3017520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PDF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97897" y="2999232"/>
            <a:ext cx="140342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25329" y="3017520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01318" y="2999232"/>
            <a:ext cx="1169517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28750" y="3017520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01 Jul 2026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070835" y="2999232"/>
            <a:ext cx="18712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0453237" y="3040379"/>
            <a:ext cx="1106424" cy="37490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View | Delete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" y="3456432"/>
            <a:ext cx="584758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3474720"/>
            <a:ext cx="52989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31646" y="3456432"/>
            <a:ext cx="3040745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59078" y="3474720"/>
            <a:ext cx="298588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Organic Chemistry Lecture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72392" y="3456432"/>
            <a:ext cx="1052565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899824" y="3474720"/>
            <a:ext cx="99770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12PCM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24958" y="3456432"/>
            <a:ext cx="140342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952390" y="3474720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Chemistry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28379" y="3456432"/>
            <a:ext cx="1169517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55811" y="3474720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VIDEO ▶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497897" y="3456432"/>
            <a:ext cx="140342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525329" y="3474720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01318" y="3456432"/>
            <a:ext cx="1169517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28750" y="3474720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28 Jun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70835" y="3456432"/>
            <a:ext cx="1871228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421233" y="3497579"/>
            <a:ext cx="1170432" cy="37490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Watch | Delete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46888" y="3913631"/>
            <a:ext cx="58475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74320" y="3931919"/>
            <a:ext cx="529894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3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31646" y="3913631"/>
            <a:ext cx="304074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9078" y="3931919"/>
            <a:ext cx="298588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Physics Formulas Sheet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872392" y="3913631"/>
            <a:ext cx="1052565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899824" y="3931919"/>
            <a:ext cx="997701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All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924958" y="3913631"/>
            <a:ext cx="140342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952390" y="3931919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Physics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328379" y="3913631"/>
            <a:ext cx="1169517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55811" y="3931919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PDF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497897" y="3913631"/>
            <a:ext cx="140342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25329" y="3931919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admin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01318" y="3913631"/>
            <a:ext cx="1169517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28750" y="3931919"/>
            <a:ext cx="1114653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25 Jun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070835" y="3913631"/>
            <a:ext cx="1871228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453237" y="3954779"/>
            <a:ext cx="1106424" cy="37490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View | Delete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OMR Scanner (omr_scan.jsp)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20/28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Exams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Materials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07508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OMR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529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Reports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1362456"/>
            <a:ext cx="173736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OMR Scanner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6888" y="1673352"/>
            <a:ext cx="11695176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46888" y="1673352"/>
            <a:ext cx="11695176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" y="1719072"/>
            <a:ext cx="11512296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Upload 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1965960"/>
            <a:ext cx="219456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Title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2103120"/>
            <a:ext cx="219456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60" b="0">
                <a:solidFill>
                  <a:srgbClr val="1F2937"/>
                </a:solidFill>
                <a:latin typeface="Segoe UI"/>
              </a:rPr>
              <a:t>Mock Test OMR - Sheet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15768" y="1965960"/>
            <a:ext cx="160020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Student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15768" y="2103120"/>
            <a:ext cx="160020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60" b="0">
                <a:solidFill>
                  <a:srgbClr val="1F2937"/>
                </a:solidFill>
                <a:latin typeface="Segoe UI"/>
              </a:rPr>
              <a:t>Priya Deshmukh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25696" y="1965960"/>
            <a:ext cx="82296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Page No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25696" y="2103120"/>
            <a:ext cx="82296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60" b="0">
                <a:solidFill>
                  <a:srgbClr val="1F2937"/>
                </a:solidFill>
                <a:latin typeface="Segoe UI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1965960"/>
            <a:ext cx="10058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Q Range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58383" y="2103120"/>
            <a:ext cx="100584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60" b="0">
                <a:solidFill>
                  <a:srgbClr val="1F2937"/>
                </a:solidFill>
                <a:latin typeface="Segoe UI"/>
              </a:rPr>
              <a:t>1 - 45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73952" y="1965960"/>
            <a:ext cx="91440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Max Marks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73952" y="2103120"/>
            <a:ext cx="91440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60" b="0">
                <a:solidFill>
                  <a:srgbClr val="1F2937"/>
                </a:solidFill>
                <a:latin typeface="Segoe UI"/>
              </a:rPr>
              <a:t>180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1965960"/>
            <a:ext cx="205740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Upload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498079" y="2103120"/>
            <a:ext cx="205740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60" b="0">
                <a:solidFill>
                  <a:srgbClr val="1F2937"/>
                </a:solidFill>
                <a:latin typeface="Segoe UI"/>
              </a:rPr>
              <a:t>omr_sheet_priya.jpg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" y="2697480"/>
            <a:ext cx="173736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46888" y="2697480"/>
            <a:ext cx="73152" cy="60350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4904" y="2770632"/>
            <a:ext cx="148132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Total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904" y="2953512"/>
            <a:ext cx="148132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180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103120" y="2697480"/>
            <a:ext cx="173736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103120" y="2697480"/>
            <a:ext cx="73152" cy="60350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231136" y="2770632"/>
            <a:ext cx="148132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Attempted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231136" y="2953512"/>
            <a:ext cx="148132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178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959352" y="2697480"/>
            <a:ext cx="173736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59352" y="2697480"/>
            <a:ext cx="73152" cy="603504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87368" y="2770632"/>
            <a:ext cx="148132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Blank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087368" y="2953512"/>
            <a:ext cx="148132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2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815583" y="2697480"/>
            <a:ext cx="173736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815583" y="2697480"/>
            <a:ext cx="73152" cy="6035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599" y="2770632"/>
            <a:ext cx="148132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Correct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599" y="2953512"/>
            <a:ext cx="148132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145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671815" y="2697480"/>
            <a:ext cx="173736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71815" y="2697480"/>
            <a:ext cx="73152" cy="603504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799831" y="2770632"/>
            <a:ext cx="148132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Wrong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99831" y="2953512"/>
            <a:ext cx="148132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33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528047" y="2697480"/>
            <a:ext cx="173736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528047" y="2697480"/>
            <a:ext cx="73152" cy="603504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56063" y="2770632"/>
            <a:ext cx="148132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Score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656063" y="2953512"/>
            <a:ext cx="148132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388/720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46888" y="3419856"/>
            <a:ext cx="6766560" cy="2633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46888" y="3419856"/>
            <a:ext cx="67665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8328" y="3465576"/>
            <a:ext cx="65836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Answer Grid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1480" y="373989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6344" y="3785615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Q1: B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691640" y="373989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746504" y="3785615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Q2: C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971800" y="373989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026664" y="3785615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Q3: 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251960" y="373989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06824" y="3785615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Q4: A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532120" y="373989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586984" y="3785615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Q5: B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" y="399592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66344" y="404164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Q6: C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691640" y="399592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746504" y="404164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Q7: D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2971800" y="399592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26664" y="404164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Q8: A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4251960" y="399592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06824" y="404164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Q9: B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5532120" y="399592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586984" y="404164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Q10: C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11480" y="425196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66344" y="4297679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Q11: D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691640" y="425196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746504" y="4297679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Q12: A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2971800" y="425196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026664" y="4297679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Q13: B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251960" y="425196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306824" y="4297679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Q14: C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532120" y="425196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86984" y="4297679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Q15: D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11480" y="450799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66344" y="455371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Q16: A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691640" y="450799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746504" y="455371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Q17: B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2971800" y="450799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026664" y="455371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Q18: 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4251960" y="450799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306824" y="455371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Q19: 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532120" y="450799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586984" y="455371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Q20: A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411480" y="4764024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66344" y="4809744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Q21: B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691640" y="4764024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746504" y="4809744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Q22: C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2971800" y="4764024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026664" y="4809744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Q23: D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251960" y="4764024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06824" y="4809744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Q24: A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5532120" y="4764024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5586984" y="4809744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Q25: B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411480" y="502005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6344" y="5065776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Q26: C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691640" y="502005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746504" y="5065776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Q27: D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971800" y="502005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026664" y="5065776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Q28: A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251960" y="502005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06824" y="5065776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Q29: B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5532120" y="5020056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586984" y="5065776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Q30: C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411480" y="527608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6344" y="532180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Q31: 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691640" y="527608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746504" y="532180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Q32: A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971800" y="527608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026664" y="532180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Q33: B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4251960" y="527608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306824" y="532180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Q34: C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532120" y="5276088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586984" y="5321808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Q35: D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11480" y="553212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66344" y="5577840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Q36: A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1691640" y="553212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1746504" y="5577840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Q37: B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2971800" y="553212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3026664" y="5577840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Q38: C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4251960" y="553212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06824" y="5577840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Q39: D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532120" y="5532120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5586984" y="5577840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Q40: A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11480" y="578815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66344" y="583387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Q41: B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1691640" y="578815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1746504" y="583387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Q42: C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2971800" y="578815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026664" y="583387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Q43: D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251960" y="578815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4306824" y="583387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Q44: A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5532120" y="5788152"/>
            <a:ext cx="1207008" cy="22860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586984" y="5833872"/>
            <a:ext cx="109728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810" b="1">
                <a:solidFill>
                  <a:srgbClr val="FFFFFF"/>
                </a:solidFill>
                <a:latin typeface="Segoe UI"/>
              </a:rPr>
              <a:t>Q45: B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321808" y="5751576"/>
            <a:ext cx="141732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0" b="1">
                <a:solidFill>
                  <a:srgbClr val="FFFFFF"/>
                </a:solidFill>
                <a:latin typeface="Segoe UI"/>
              </a:rPr>
              <a:t>Export to CSV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7196327" y="3419856"/>
            <a:ext cx="4251960" cy="26334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7196327" y="3419856"/>
            <a:ext cx="42519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287767" y="3465576"/>
            <a:ext cx="40690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Recent Scans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360920" y="3767328"/>
            <a:ext cx="941466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379208" y="3803904"/>
            <a:ext cx="90489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Scan ID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8302386" y="3767328"/>
            <a:ext cx="1098377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8320674" y="3803904"/>
            <a:ext cx="1061801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Student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400763" y="3767328"/>
            <a:ext cx="863010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9419051" y="3803904"/>
            <a:ext cx="826434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Q Range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10263774" y="3767328"/>
            <a:ext cx="1019921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10282062" y="3803904"/>
            <a:ext cx="983345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7360920" y="4059936"/>
            <a:ext cx="941466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388352" y="4078224"/>
            <a:ext cx="88660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SCN-102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8302386" y="4059936"/>
            <a:ext cx="109837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8329818" y="4078224"/>
            <a:ext cx="104351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Priya D.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400763" y="4059936"/>
            <a:ext cx="8630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428195" y="4078224"/>
            <a:ext cx="808146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01-45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10263774" y="4059936"/>
            <a:ext cx="101992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10291206" y="4078224"/>
            <a:ext cx="96505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388/720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7360920" y="4462272"/>
            <a:ext cx="941466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7388352" y="4480560"/>
            <a:ext cx="88660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SCN-101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302386" y="4462272"/>
            <a:ext cx="1098377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329818" y="4480560"/>
            <a:ext cx="104351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Arjun S.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400763" y="4462272"/>
            <a:ext cx="863010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428195" y="4480560"/>
            <a:ext cx="808146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01-45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0263774" y="4462272"/>
            <a:ext cx="1019921" cy="402336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10291206" y="4480560"/>
            <a:ext cx="96505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352/720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7360920" y="4864608"/>
            <a:ext cx="941466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7388352" y="4882896"/>
            <a:ext cx="886602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SCN-099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8302386" y="4864608"/>
            <a:ext cx="1098377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8329818" y="4882896"/>
            <a:ext cx="1043513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Meera T.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400763" y="4864608"/>
            <a:ext cx="863010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9428195" y="4882896"/>
            <a:ext cx="808146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01-45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10263774" y="4864608"/>
            <a:ext cx="1019921" cy="402336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10291206" y="4882896"/>
            <a:ext cx="965057" cy="3657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80" b="0">
                <a:solidFill>
                  <a:srgbClr val="1F2937"/>
                </a:solidFill>
                <a:latin typeface="Segoe UI"/>
              </a:rPr>
              <a:t>310/720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Support Tickets – Admin View (tickets_admin.jsp)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21/28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6572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4356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Tickets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6888" y="1362456"/>
            <a:ext cx="173736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Support Tickets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029967" y="1380744"/>
            <a:ext cx="1005840" cy="21945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12 Total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27248" y="1380744"/>
            <a:ext cx="868680" cy="21945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145336"/>
                </a:solidFill>
                <a:latin typeface="Segoe UI"/>
              </a:rPr>
              <a:t>5 Open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" y="1655064"/>
            <a:ext cx="28346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Search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1792224"/>
            <a:ext cx="283464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900" b="0">
                <a:solidFill>
                  <a:srgbClr val="1F2937"/>
                </a:solidFill>
                <a:latin typeface="Segoe UI"/>
              </a:rPr>
              <a:t>Search by student or subject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64408" y="1655064"/>
            <a:ext cx="192024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Status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264408" y="1792224"/>
            <a:ext cx="192024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780" b="0">
                <a:solidFill>
                  <a:srgbClr val="1F2937"/>
                </a:solidFill>
                <a:latin typeface="Segoe UI"/>
              </a:rPr>
              <a:t>All / OPEN / IN PROGRESS / RESOLVED / CLOSED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" y="2203704"/>
            <a:ext cx="818662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5176" y="2240280"/>
            <a:ext cx="782086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ID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65550" y="2203704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3838" y="2240280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Student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971" y="2203704"/>
            <a:ext cx="1286469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487259" y="2240280"/>
            <a:ext cx="1249893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55440" y="2203704"/>
            <a:ext cx="292379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73728" y="2240280"/>
            <a:ext cx="288721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Subject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79234" y="2203704"/>
            <a:ext cx="1403421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97522" y="2240280"/>
            <a:ext cx="1366845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82655" y="2203704"/>
            <a:ext cx="163732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00943" y="2240280"/>
            <a:ext cx="160074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19980" y="2203704"/>
            <a:ext cx="935614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38268" y="2240280"/>
            <a:ext cx="899038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655594" y="2203704"/>
            <a:ext cx="1286469" cy="310896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673882" y="2240280"/>
            <a:ext cx="1249893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Action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" y="2514600"/>
            <a:ext cx="81866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2532888"/>
            <a:ext cx="763798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#8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65550" y="2514600"/>
            <a:ext cx="140342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2982" y="2532888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Priya D.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971" y="2514600"/>
            <a:ext cx="1286469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496403" y="2532888"/>
            <a:ext cx="1231605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Fees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55440" y="2514600"/>
            <a:ext cx="292379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82872" y="2532888"/>
            <a:ext cx="2868929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Receipt not received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679234" y="2514600"/>
            <a:ext cx="140342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106625" y="2560320"/>
            <a:ext cx="548640" cy="365760"/>
          </a:xfrm>
          <a:prstGeom prst="roundRect">
            <a:avLst>
              <a:gd name="adj" fmla="val 12000"/>
            </a:avLst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082655" y="2514600"/>
            <a:ext cx="163732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626998" y="2560320"/>
            <a:ext cx="548640" cy="365760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145336"/>
                </a:solidFill>
                <a:latin typeface="Segoe UI"/>
              </a:rPr>
              <a:t>OPEN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719980" y="2514600"/>
            <a:ext cx="93561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47412" y="2532888"/>
            <a:ext cx="88075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05 Jul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655594" y="2514600"/>
            <a:ext cx="1286469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0969645" y="2555748"/>
            <a:ext cx="658368" cy="37490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View→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" y="2971800"/>
            <a:ext cx="818662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74320" y="2990088"/>
            <a:ext cx="763798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#7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65550" y="2971800"/>
            <a:ext cx="140342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92982" y="2990088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Arjun S.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468971" y="2971800"/>
            <a:ext cx="1286469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496403" y="2990088"/>
            <a:ext cx="1231605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Study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755440" y="2971800"/>
            <a:ext cx="2923794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782872" y="2990088"/>
            <a:ext cx="2868929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Video link broken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9234" y="2971800"/>
            <a:ext cx="140342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7060905" y="3017520"/>
            <a:ext cx="640080" cy="36576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NORMAL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82655" y="2971800"/>
            <a:ext cx="1637324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8421258" y="3017520"/>
            <a:ext cx="960120" cy="36576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IN PROGRESS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19980" y="2971800"/>
            <a:ext cx="935614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747412" y="2990088"/>
            <a:ext cx="88075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04 Jul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655594" y="2971800"/>
            <a:ext cx="1286469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10969645" y="3012948"/>
            <a:ext cx="658368" cy="37490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View→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6888" y="3429000"/>
            <a:ext cx="818662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74320" y="3447288"/>
            <a:ext cx="763798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#6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65550" y="3429000"/>
            <a:ext cx="140342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092982" y="3447288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Meera T.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68971" y="3429000"/>
            <a:ext cx="1286469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496403" y="3447288"/>
            <a:ext cx="1231605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General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755440" y="3429000"/>
            <a:ext cx="292379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82872" y="3447288"/>
            <a:ext cx="2868929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Class time change?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679234" y="3429000"/>
            <a:ext cx="1403421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106625" y="3474720"/>
            <a:ext cx="548640" cy="36576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LOW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082655" y="3429000"/>
            <a:ext cx="163732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517270" y="3474720"/>
            <a:ext cx="768096" cy="365760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RESOLVED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719980" y="3429000"/>
            <a:ext cx="935614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47412" y="3447288"/>
            <a:ext cx="88075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01 Jul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655594" y="3429000"/>
            <a:ext cx="1286469" cy="457200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969645" y="3470148"/>
            <a:ext cx="658368" cy="37490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View→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46888" y="3886200"/>
            <a:ext cx="818662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74320" y="3904487"/>
            <a:ext cx="763798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#5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65550" y="3886200"/>
            <a:ext cx="140342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092982" y="3904487"/>
            <a:ext cx="1348557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Ravi K.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468971" y="3886200"/>
            <a:ext cx="1286469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496403" y="3904487"/>
            <a:ext cx="1231605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Fees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755440" y="3886200"/>
            <a:ext cx="2923794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782872" y="3904487"/>
            <a:ext cx="2868929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Discount query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679234" y="3886200"/>
            <a:ext cx="1403421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7060905" y="3931920"/>
            <a:ext cx="640080" cy="365760"/>
          </a:xfrm>
          <a:prstGeom prst="roundRect">
            <a:avLst>
              <a:gd name="adj" fmla="val 12000"/>
            </a:avLst>
          </a:prstGeom>
          <a:solidFill>
            <a:srgbClr val="3B82F6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NORMAL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82655" y="3886200"/>
            <a:ext cx="1637324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8581278" y="3931920"/>
            <a:ext cx="640080" cy="365760"/>
          </a:xfrm>
          <a:prstGeom prst="roundRect">
            <a:avLst>
              <a:gd name="adj" fmla="val 12000"/>
            </a:avLst>
          </a:pr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19" b="1">
                <a:solidFill>
                  <a:srgbClr val="FFFFFF"/>
                </a:solidFill>
                <a:latin typeface="Segoe UI"/>
              </a:rPr>
              <a:t>CLOSED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719980" y="3886200"/>
            <a:ext cx="935614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747412" y="3904487"/>
            <a:ext cx="880750" cy="42062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28 Jun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655594" y="3886200"/>
            <a:ext cx="1286469" cy="457200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0969645" y="3927348"/>
            <a:ext cx="658368" cy="37490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View→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Ticket Detail / Reply View (ticket_admin_view.jsp)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22/28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Admin Console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78181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08476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Tickets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713232"/>
            <a:ext cx="71323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Fees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Secure Portal • Batch 2026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6888" y="1362456"/>
            <a:ext cx="283464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Ticket #8 – Receipt not received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6888" y="1655064"/>
            <a:ext cx="11695176" cy="384048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1764792"/>
            <a:ext cx="649224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80" b="1">
                <a:solidFill>
                  <a:srgbClr val="145336"/>
                </a:solidFill>
                <a:latin typeface="Segoe UI"/>
              </a:rPr>
              <a:t>Student: Priya Deshmukh   |   Category: Fees   |   Priority: HIGH   |   Status: OPEN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" y="2167128"/>
            <a:ext cx="7223760" cy="2331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46888" y="2167128"/>
            <a:ext cx="72237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" y="2212848"/>
            <a:ext cx="70408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Conversation Thread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2532888"/>
            <a:ext cx="4160520" cy="78638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2606040"/>
            <a:ext cx="384048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60" b="0">
                <a:solidFill>
                  <a:srgbClr val="1F2937"/>
                </a:solidFill>
                <a:latin typeface="Segoe UI"/>
              </a:rPr>
              <a:t>STUDENT (05 Jul 10:23)
I made payment of ₹8100 on 3rd July but I haven't received my receipt. Please share 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41448" y="3392424"/>
            <a:ext cx="4526280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578608" y="3465576"/>
            <a:ext cx="42062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1F2937"/>
                </a:solidFill>
                <a:latin typeface="Segoe UI"/>
              </a:rPr>
              <a:t>STAFF (05 Jul 11:45)
Hi Priya, we can see your payment. The receipt will be emailed shortly. Apologies for the delay.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" y="4672584"/>
            <a:ext cx="7223760" cy="1298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246888" y="4672584"/>
            <a:ext cx="722376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8328" y="4718304"/>
            <a:ext cx="70408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Reply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974336"/>
            <a:ext cx="539496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Message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" y="5111496"/>
            <a:ext cx="5394960" cy="576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Receipt regenerated and emailed. Please confirm once received.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61888" y="5184648"/>
            <a:ext cx="1234440" cy="292608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0" b="1">
                <a:solidFill>
                  <a:srgbClr val="FFFFFF"/>
                </a:solidFill>
                <a:latin typeface="Segoe UI"/>
              </a:rPr>
              <a:t>Send Reply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99248" y="2167128"/>
            <a:ext cx="3749039" cy="38039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699248" y="2167128"/>
            <a:ext cx="3749039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90688" y="2212848"/>
            <a:ext cx="3566159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Status Update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2551176"/>
            <a:ext cx="33832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Status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882127" y="2688336"/>
            <a:ext cx="33832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40" b="0">
                <a:solidFill>
                  <a:srgbClr val="1F2937"/>
                </a:solidFill>
                <a:latin typeface="Segoe UI"/>
              </a:rPr>
              <a:t>OPEN / IN_PROGRESS / RESOLVED / CLOSED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882127" y="3191256"/>
            <a:ext cx="960120" cy="31089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9" b="1">
                <a:solidFill>
                  <a:srgbClr val="FFFFFF"/>
                </a:solidFill>
                <a:latin typeface="Segoe UI"/>
              </a:rPr>
              <a:t>Update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82127" y="3694176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882127" y="3694176"/>
            <a:ext cx="73152" cy="713232"/>
          </a:xfrm>
          <a:prstGeom prst="rect">
            <a:avLst/>
          </a:prstGeom>
          <a:solidFill>
            <a:srgbClr val="D94A38"/>
          </a:solidFill>
          <a:ln w="12700">
            <a:solidFill>
              <a:srgbClr val="D94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10144" y="3767328"/>
            <a:ext cx="129844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Priority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4" y="3950208"/>
            <a:ext cx="129844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HIGH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528048" y="3694176"/>
            <a:ext cx="1554480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9528048" y="3694176"/>
            <a:ext cx="73152" cy="713232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56064" y="3767328"/>
            <a:ext cx="1298448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9" b="1">
                <a:solidFill>
                  <a:srgbClr val="4B5563"/>
                </a:solidFill>
                <a:latin typeface="Segoe UI"/>
              </a:rPr>
              <a:t>SLA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56064" y="3950208"/>
            <a:ext cx="1298448" cy="21031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145336"/>
                </a:solidFill>
                <a:latin typeface="Segoe UI"/>
              </a:rPr>
              <a:t>4 hrs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Student Dashboard (student-dashboard.jsp)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23/28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Student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7196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Videos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813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Logout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Welcome, Priya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" y="1362456"/>
            <a:ext cx="256032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Hi, Priya Deshmukh 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898648" y="1380744"/>
            <a:ext cx="1051560" cy="21945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145336"/>
                </a:solidFill>
                <a:latin typeface="Segoe UI"/>
              </a:rPr>
              <a:t>🆔 HNS-001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41648" y="1380744"/>
            <a:ext cx="1463040" cy="21945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40" b="1">
                <a:solidFill>
                  <a:srgbClr val="FFFFFF"/>
                </a:solidFill>
                <a:latin typeface="Segoe UI"/>
              </a:rPr>
              <a:t>🎓 12th-Science (PCB)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1865376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6" y="2121408"/>
            <a:ext cx="35661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45336"/>
                </a:solidFill>
                <a:latin typeface="Segoe UI"/>
              </a:rPr>
              <a:t>📅 Attendance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" y="2487168"/>
            <a:ext cx="36118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Segoe UI"/>
              </a:rPr>
              <a:t>Your record &amp; 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70448" y="1865376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71616" y="2121408"/>
            <a:ext cx="35661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45336"/>
                </a:solidFill>
                <a:latin typeface="Segoe UI"/>
              </a:rPr>
              <a:t>📄 Study Material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71616" y="2487168"/>
            <a:ext cx="36118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Segoe UI"/>
              </a:rPr>
              <a:t>Notes &amp; PDFs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6888" y="3374136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8056" y="3630168"/>
            <a:ext cx="35661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45336"/>
                </a:solidFill>
                <a:latin typeface="Segoe UI"/>
              </a:rPr>
              <a:t>▶️ E-Content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8056" y="3995928"/>
            <a:ext cx="36118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Segoe UI"/>
              </a:rPr>
              <a:t>Lecture videos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70448" y="3374136"/>
            <a:ext cx="5394960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71616" y="3630168"/>
            <a:ext cx="3566160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400" b="1">
                <a:solidFill>
                  <a:srgbClr val="145336"/>
                </a:solidFill>
                <a:latin typeface="Segoe UI"/>
              </a:rPr>
              <a:t>🎫 Raise a Concern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71616" y="3995928"/>
            <a:ext cx="36118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00" b="0">
                <a:solidFill>
                  <a:srgbClr val="4B5563"/>
                </a:solidFill>
                <a:latin typeface="Segoe UI"/>
              </a:rPr>
              <a:t>Support &amp; queries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46888" y="5678424"/>
            <a:ext cx="11695176" cy="347472"/>
          </a:xfrm>
          <a:prstGeom prst="roundRect">
            <a:avLst>
              <a:gd name="adj" fmla="val 12000"/>
            </a:avLst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5528" y="5769864"/>
            <a:ext cx="10597896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🏠 Home      📅 Attend      📄 Study      ▶ Videos      🎫 Support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Student Attendance View (student_attendance.jsp)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24/28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Student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7196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Videos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813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Logout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Attendance View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" y="1362456"/>
            <a:ext cx="192024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My Attendance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6888" y="1655064"/>
            <a:ext cx="8915400" cy="420624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9768" y="1764792"/>
            <a:ext cx="65836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Present: 40   |   Absent: 1   |   Late: 1   |   Total: 42</a:t>
            </a:r>
          </a:p>
        </p:txBody>
      </p:sp>
      <p:sp>
        <p:nvSpPr>
          <p:cNvPr id="31" name="Oval 30"/>
          <p:cNvSpPr/>
          <p:nvPr/>
        </p:nvSpPr>
        <p:spPr>
          <a:xfrm>
            <a:off x="9802367" y="1581912"/>
            <a:ext cx="749808" cy="749808"/>
          </a:xfrm>
          <a:prstGeom prst="ellipse">
            <a:avLst/>
          </a:prstGeom>
          <a:solidFill>
            <a:srgbClr val="1A7A4A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93808" y="1783080"/>
            <a:ext cx="566928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95.2%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" y="2276856"/>
            <a:ext cx="2342692" cy="256032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" y="2313432"/>
            <a:ext cx="2306116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89580" y="2276856"/>
            <a:ext cx="1004011" cy="256032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07868" y="2313432"/>
            <a:ext cx="967435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93591" y="2276856"/>
            <a:ext cx="2231136" cy="256032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11879" y="2313432"/>
            <a:ext cx="2194560" cy="1828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8" y="2532888"/>
            <a:ext cx="23426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2551176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01 Jun 2026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89580" y="2532888"/>
            <a:ext cx="1004011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17012" y="2551176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Mon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593591" y="2532888"/>
            <a:ext cx="2231136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21023" y="2551176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" y="2743200"/>
            <a:ext cx="2342692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2761488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02 Jun 2026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589580" y="2743200"/>
            <a:ext cx="1004011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617012" y="2761488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Tue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593591" y="2743200"/>
            <a:ext cx="2231136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21023" y="2761488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8" y="2953512"/>
            <a:ext cx="23426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2971800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03 Jun 2026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589580" y="2953512"/>
            <a:ext cx="1004011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617012" y="2971800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Wed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93591" y="2953512"/>
            <a:ext cx="2231136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21023" y="2971800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" y="3163824"/>
            <a:ext cx="2342692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3182112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04 Jun 2026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89580" y="3163824"/>
            <a:ext cx="1004011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17012" y="3182112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Thu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593591" y="3163824"/>
            <a:ext cx="2231136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621023" y="3182112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F4C542"/>
                </a:solidFill>
                <a:latin typeface="Segoe UI"/>
              </a:rPr>
              <a:t>Late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6888" y="3374136"/>
            <a:ext cx="23426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3392424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05 Jun 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589580" y="3374136"/>
            <a:ext cx="1004011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617012" y="3392424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Fri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93591" y="3374136"/>
            <a:ext cx="2231136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621023" y="3392424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8" y="3584448"/>
            <a:ext cx="2342692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4320" y="3602736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08 Jun 2026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89580" y="3584448"/>
            <a:ext cx="1004011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617012" y="3602736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Mon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593591" y="3584448"/>
            <a:ext cx="2231136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621023" y="3602736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8" y="3794760"/>
            <a:ext cx="23426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" y="3813048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09 Jun 2026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589580" y="3794760"/>
            <a:ext cx="1004011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617012" y="3813048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Tue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593591" y="3794760"/>
            <a:ext cx="2231136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621023" y="3813048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46888" y="4005072"/>
            <a:ext cx="2342692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4320" y="4023360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10 Jun 2026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589580" y="4005072"/>
            <a:ext cx="1004011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17012" y="4023360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Wed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593591" y="4005072"/>
            <a:ext cx="2231136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21023" y="4023360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46888" y="4215384"/>
            <a:ext cx="23426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74320" y="4233672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12 Jun 2026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589580" y="4215384"/>
            <a:ext cx="1004011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617012" y="4233672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Fri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593591" y="4215384"/>
            <a:ext cx="2231136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621023" y="4233672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D94A38"/>
                </a:solidFill>
                <a:latin typeface="Segoe UI"/>
              </a:rPr>
              <a:t>Absent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46888" y="4425696"/>
            <a:ext cx="2342692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74320" y="4443984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15 Jun 2026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89580" y="4425696"/>
            <a:ext cx="1004011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617012" y="4443984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Mon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593591" y="4425696"/>
            <a:ext cx="2231136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621023" y="4443984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46888" y="4636008"/>
            <a:ext cx="23426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" y="4654296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20 Jun 2026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589580" y="4636008"/>
            <a:ext cx="1004011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617012" y="4654296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Sat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593591" y="4636008"/>
            <a:ext cx="2231136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21023" y="4654296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46888" y="4846320"/>
            <a:ext cx="2342692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4320" y="4864608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25 Jun 2026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589580" y="4846320"/>
            <a:ext cx="1004011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617012" y="4864608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Thu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593591" y="4846320"/>
            <a:ext cx="2231136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621023" y="4864608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46888" y="5056632"/>
            <a:ext cx="23426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74320" y="5074920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30 Jun 2026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589580" y="5056632"/>
            <a:ext cx="1004011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617012" y="5074920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Tue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593591" y="5056632"/>
            <a:ext cx="2231136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3621023" y="5074920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46888" y="5266944"/>
            <a:ext cx="2342692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74320" y="5285232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03 Jul 2026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589580" y="5266944"/>
            <a:ext cx="1004011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617012" y="5285232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Fri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3593591" y="5266944"/>
            <a:ext cx="2231136" cy="210312"/>
          </a:xfrm>
          <a:prstGeom prst="rect">
            <a:avLst/>
          </a:prstGeom>
          <a:solidFill>
            <a:srgbClr val="EAF4EE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621023" y="5285232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1A7A4A"/>
                </a:solidFill>
                <a:latin typeface="Segoe UI"/>
              </a:rPr>
              <a:t>Present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46888" y="5477256"/>
            <a:ext cx="2342692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74320" y="5495544"/>
            <a:ext cx="2287828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05 Jul 2026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589580" y="5477256"/>
            <a:ext cx="1004011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617012" y="5495544"/>
            <a:ext cx="949147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1F2937"/>
                </a:solidFill>
                <a:latin typeface="Segoe UI"/>
              </a:rPr>
              <a:t>Sun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3593591" y="5477256"/>
            <a:ext cx="2231136" cy="210312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21023" y="5495544"/>
            <a:ext cx="2176272" cy="17373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1">
                <a:solidFill>
                  <a:srgbClr val="3B82F6"/>
                </a:solidFill>
                <a:latin typeface="Segoe UI"/>
              </a:rPr>
              <a:t>Leave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Student Resources / Study Materials (student_resources.jsp)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25/28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Student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7196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Videos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813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Logout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Study Resources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46888" y="1362456"/>
            <a:ext cx="150876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FFFFFF"/>
                </a:solidFill>
                <a:latin typeface="Segoe UI"/>
              </a:rPr>
              <a:t>📄 Study Material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892808" y="1362456"/>
            <a:ext cx="16002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80" b="1">
                <a:solidFill>
                  <a:srgbClr val="145336"/>
                </a:solidFill>
                <a:latin typeface="Segoe UI"/>
              </a:rPr>
              <a:t>▶ E-Content Videos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" y="1728216"/>
            <a:ext cx="15544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Filter by Subject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46888" y="1865376"/>
            <a:ext cx="1554480" cy="292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30" b="0">
                <a:solidFill>
                  <a:srgbClr val="1F2937"/>
                </a:solidFill>
                <a:latin typeface="Segoe UI"/>
              </a:rPr>
              <a:t>Biology / Physics / Chemistry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46888" y="2322576"/>
            <a:ext cx="7680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" y="2468880"/>
            <a:ext cx="34747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45336"/>
                </a:solidFill>
                <a:latin typeface="Segoe UI"/>
              </a:rPr>
              <a:t>📄 NEET Biology Ch.5 Notes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2688336"/>
            <a:ext cx="22860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Segoe UI"/>
              </a:rPr>
              <a:t>Biology — 12PCB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19088" y="2487168"/>
            <a:ext cx="128016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Download 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46888" y="3145536"/>
            <a:ext cx="7680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9768" y="3291840"/>
            <a:ext cx="34747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45336"/>
                </a:solidFill>
                <a:latin typeface="Segoe UI"/>
              </a:rPr>
              <a:t>📄 Physics Formulas Sheet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" y="3511296"/>
            <a:ext cx="22860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Segoe UI"/>
              </a:rPr>
              <a:t>Physics — All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19088" y="3310128"/>
            <a:ext cx="128016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Download PDF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6888" y="3968496"/>
            <a:ext cx="76809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" y="4114800"/>
            <a:ext cx="34747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00" b="1">
                <a:solidFill>
                  <a:srgbClr val="145336"/>
                </a:solidFill>
                <a:latin typeface="Segoe UI"/>
              </a:rPr>
              <a:t>📄 Chemistry Organic Notes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" y="4334256"/>
            <a:ext cx="228600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0">
                <a:solidFill>
                  <a:srgbClr val="4B5563"/>
                </a:solidFill>
                <a:latin typeface="Segoe UI"/>
              </a:rPr>
              <a:t>Chemistry — 12PCB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19088" y="4133087"/>
            <a:ext cx="128016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50" b="1">
                <a:solidFill>
                  <a:srgbClr val="FFFFFF"/>
                </a:solidFill>
                <a:latin typeface="Segoe UI"/>
              </a:rPr>
              <a:t>Download PDF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SCREEN: Student Tickets / Support (student_tickets.jsp)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26/28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" y="384048"/>
            <a:ext cx="11914632" cy="6199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384048"/>
            <a:ext cx="11914632" cy="201168"/>
          </a:xfrm>
          <a:prstGeom prst="rect">
            <a:avLst/>
          </a:prstGeom>
          <a:solidFill>
            <a:srgbClr val="F3F4F6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600" y="434340"/>
            <a:ext cx="54864" cy="54864"/>
          </a:xfrm>
          <a:prstGeom prst="ellipse">
            <a:avLst/>
          </a:prstGeom>
          <a:solidFill>
            <a:srgbClr val="F87171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0896" y="434340"/>
            <a:ext cx="54864" cy="54864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3192" y="434340"/>
            <a:ext cx="54864" cy="5486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425196"/>
            <a:ext cx="5303520" cy="10058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9768"/>
            <a:ext cx="4754880" cy="7315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750" b="0">
                <a:solidFill>
                  <a:srgbClr val="4B5563"/>
                </a:solidFill>
                <a:latin typeface="Segoe UI"/>
              </a:rPr>
              <a:t>https://app.havellssonneet.in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" y="585216"/>
            <a:ext cx="11914632" cy="50292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1" y="676656"/>
            <a:ext cx="310896" cy="310896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694944"/>
            <a:ext cx="237744" cy="20116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600" b="1">
                <a:solidFill>
                  <a:srgbClr val="145336"/>
                </a:solidFill>
                <a:latin typeface="Segoe UI"/>
              </a:rPr>
              <a:t>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9224"/>
            <a:ext cx="2194560" cy="32918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Segoe UI"/>
              </a:rPr>
              <a:t>Havellsson NEET Samrat
Student Portal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713232"/>
            <a:ext cx="502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9584" y="713232"/>
            <a:ext cx="85039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713232"/>
            <a:ext cx="50749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7196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Videos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28132" y="713232"/>
            <a:ext cx="644652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1">
                <a:solidFill>
                  <a:srgbClr val="F4C542"/>
                </a:solidFill>
                <a:latin typeface="Segoe UI"/>
              </a:rPr>
              <a:t>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713232"/>
            <a:ext cx="576071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60" b="0">
                <a:solidFill>
                  <a:srgbClr val="FFFFFF"/>
                </a:solidFill>
                <a:latin typeface="Segoe UI"/>
              </a:rPr>
              <a:t>Logout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85832" y="713232"/>
            <a:ext cx="178308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780" b="0">
                <a:solidFill>
                  <a:srgbClr val="FFFFFF"/>
                </a:solidFill>
                <a:latin typeface="Segoe UI"/>
              </a:rPr>
              <a:t>Support Center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" y="1088136"/>
            <a:ext cx="11914632" cy="182880"/>
          </a:xfrm>
          <a:prstGeom prst="rect">
            <a:avLst/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1115568"/>
            <a:ext cx="7589520" cy="1097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50" b="1">
                <a:solidFill>
                  <a:srgbClr val="145336"/>
                </a:solidFill>
                <a:latin typeface="Segoe UI"/>
              </a:rPr>
              <a:t>🏆 Havellsson NEET Samrat — India's Trusted NEET Coaching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64592" y="1298448"/>
            <a:ext cx="11859767" cy="5257800"/>
          </a:xfrm>
          <a:prstGeom prst="rect">
            <a:avLst/>
          </a:prstGeom>
          <a:solidFill>
            <a:srgbClr val="F6FBF7"/>
          </a:solidFill>
          <a:ln w="12700">
            <a:solidFill>
              <a:srgbClr val="F6F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6888" y="1362456"/>
            <a:ext cx="233172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145336"/>
                </a:solidFill>
                <a:latin typeface="Segoe UI"/>
              </a:rPr>
              <a:t>My Support Tickets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479024" y="1362456"/>
            <a:ext cx="1325880" cy="256032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0" b="1">
                <a:solidFill>
                  <a:srgbClr val="FFFFFF"/>
                </a:solidFill>
                <a:latin typeface="Segoe UI"/>
              </a:rPr>
              <a:t>Raise New Ticket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6888" y="1682495"/>
            <a:ext cx="11695176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46888" y="1682495"/>
            <a:ext cx="11695176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" y="1728216"/>
            <a:ext cx="11512296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New Ticket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1984248"/>
            <a:ext cx="14173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Category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11480" y="2121408"/>
            <a:ext cx="141732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00" b="0">
                <a:solidFill>
                  <a:srgbClr val="1F2937"/>
                </a:solidFill>
                <a:latin typeface="Segoe UI"/>
              </a:rPr>
              <a:t>Fees / Study / Technical / General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1984248"/>
            <a:ext cx="201168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Subject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65960" y="2121408"/>
            <a:ext cx="201168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Receipt not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5656" y="1984248"/>
            <a:ext cx="3749039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Message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05656" y="2121408"/>
            <a:ext cx="3749039" cy="5029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50800" rIns="50800" tIns="25400" bIns="25400"/>
          <a:lstStyle/>
          <a:p>
            <a:pPr algn="l"/>
            <a:r>
              <a:rPr sz="1000" b="0">
                <a:solidFill>
                  <a:srgbClr val="1F2937"/>
                </a:solidFill>
                <a:latin typeface="Segoe UI"/>
              </a:rPr>
              <a:t>I paid ₹8100 on 3rd July. Please share the receipt PDF on email.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1984248"/>
            <a:ext cx="1417320" cy="12801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1">
                <a:solidFill>
                  <a:srgbClr val="4B5563"/>
                </a:solidFill>
                <a:latin typeface="Segoe UI"/>
              </a:rPr>
              <a:t>Priority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2121408"/>
            <a:ext cx="1417320" cy="320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l"/>
            <a:r>
              <a:rPr sz="819" b="0">
                <a:solidFill>
                  <a:srgbClr val="1F2937"/>
                </a:solidFill>
                <a:latin typeface="Segoe UI"/>
              </a:rPr>
              <a:t>Low / Normal / High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55480" y="2167128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A7A4A"/>
          </a:solidFill>
          <a:ln w="12700">
            <a:solidFill>
              <a:srgbClr val="1A7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/>
            <a:r>
              <a:rPr sz="860" b="1">
                <a:solidFill>
                  <a:srgbClr val="FFFFFF"/>
                </a:solidFill>
                <a:latin typeface="Segoe UI"/>
              </a:rPr>
              <a:t>Submit Ticket 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" y="3236976"/>
            <a:ext cx="662940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5176" y="3273552"/>
            <a:ext cx="626364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ID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" y="3236976"/>
            <a:ext cx="1060704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8116" y="3273552"/>
            <a:ext cx="1024127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Category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70532" y="3236976"/>
            <a:ext cx="2253996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88820" y="3273552"/>
            <a:ext cx="221742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Subject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24528" y="3236976"/>
            <a:ext cx="795528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242816" y="3273552"/>
            <a:ext cx="758952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0056" y="3236976"/>
            <a:ext cx="928116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38344" y="3273552"/>
            <a:ext cx="89154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Status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8172" y="3236976"/>
            <a:ext cx="928116" cy="292608"/>
          </a:xfrm>
          <a:prstGeom prst="rect">
            <a:avLst/>
          </a:prstGeom>
          <a:solidFill>
            <a:srgbClr val="145336"/>
          </a:solidFill>
          <a:ln w="889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66460" y="3273552"/>
            <a:ext cx="89154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Date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46888" y="3529584"/>
            <a:ext cx="662940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74320" y="3547872"/>
            <a:ext cx="608076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#8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9828" y="3529584"/>
            <a:ext cx="1060704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7260" y="3547872"/>
            <a:ext cx="1005839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Fees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970532" y="3529584"/>
            <a:ext cx="225399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97964" y="3547872"/>
            <a:ext cx="219913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Receipt not received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224528" y="3529584"/>
            <a:ext cx="795528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51960" y="3547872"/>
            <a:ext cx="740664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HIGH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0056" y="3529584"/>
            <a:ext cx="92811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47488" y="3547872"/>
            <a:ext cx="87325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OPEN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48172" y="3529584"/>
            <a:ext cx="928116" cy="420624"/>
          </a:xfrm>
          <a:prstGeom prst="rect">
            <a:avLst/>
          </a:prstGeom>
          <a:solidFill>
            <a:srgbClr val="FFFFFF"/>
          </a:solidFill>
          <a:ln w="762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75604" y="3547872"/>
            <a:ext cx="873252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90" b="0">
                <a:solidFill>
                  <a:srgbClr val="1F2937"/>
                </a:solidFill>
                <a:latin typeface="Segoe UI"/>
              </a:rPr>
              <a:t>05 Jul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B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27/28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73152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731520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777240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115568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user_id, username, password_hash,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73152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97680" y="731520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777240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student_profiles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5696" y="1115568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student_id, admission_no, class, 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731520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83879" y="731520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777240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inquiries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115568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inquiry_id, name, mobile, status, source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2121408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11480" y="2121408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167128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admissions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2505456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admission_id, student_id, fee_plan_id, joined_on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121408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297680" y="2121408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2167128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fee_plans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5696" y="2505456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fee_plan_id, plan_name, monthly_rate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2121408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83879" y="2121408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19" y="2167128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fee_payments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2505456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payment_id, student_id, amount, mode, receipt_no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3511296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11480" y="3511296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557015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attendance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" y="3895344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attendance_id, student_id, attend_date, 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511296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297680" y="3511296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557015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exams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25696" y="3895344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exam_id, exam_name, class, exam_date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83879" y="3511296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83879" y="3511296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75319" y="3557015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marks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1896" y="3895344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mark_id, exam_id, student_id, physics, chemistry, biology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4901184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1480" y="4901184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946904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materials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" y="5285232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material_id, title, subject, type, file_url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297680" y="4901184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297680" y="4901184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0" y="4946904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omr_scans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5285232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scan_id, student_id, score, correct_count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83879" y="4901184"/>
            <a:ext cx="365760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183879" y="4901184"/>
            <a:ext cx="3657600" cy="256032"/>
          </a:xfrm>
          <a:prstGeom prst="roundRect">
            <a:avLst>
              <a:gd name="adj" fmla="val 12000"/>
            </a:avLst>
          </a:prstGeom>
          <a:solidFill>
            <a:srgbClr val="EAF4EE"/>
          </a:solidFill>
          <a:ln w="12700">
            <a:solidFill>
              <a:srgbClr val="EA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5319" y="4946904"/>
            <a:ext cx="347472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050" b="1">
                <a:solidFill>
                  <a:srgbClr val="145336"/>
                </a:solidFill>
                <a:latin typeface="Segoe UI"/>
              </a:rPr>
              <a:t>support_tickets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11896" y="5285232"/>
            <a:ext cx="3401568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10" b="0">
                <a:solidFill>
                  <a:srgbClr val="1F2937"/>
                </a:solidFill>
                <a:latin typeface="Segoe UI"/>
              </a:rPr>
              <a:t>ticket_id, student_id, category, priority, status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27432"/>
            <a:ext cx="7863840" cy="228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Segoe UI"/>
              </a:rPr>
              <a:t>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45336"/>
          </a:solidFill>
          <a:ln w="12700">
            <a:solidFill>
              <a:srgbClr val="145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" y="6656832"/>
            <a:ext cx="768096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850" b="0">
                <a:solidFill>
                  <a:srgbClr val="FFFFFF"/>
                </a:solidFill>
                <a:latin typeface="Segoe UI"/>
              </a:rPr>
              <a:t>Havellsson NEET Samrat TMS • Java EE / JSP • MySQL • Razorpay • OMR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6656832"/>
            <a:ext cx="1097280" cy="14630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850" b="1">
                <a:solidFill>
                  <a:srgbClr val="FFFFFF"/>
                </a:solidFill>
                <a:latin typeface="Segoe UI"/>
              </a:rPr>
              <a:t>28/28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2011680" cy="21945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egoe UI"/>
              </a:rPr>
              <a:t>Solution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042415"/>
            <a:ext cx="5669280" cy="237744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250" b="1">
                <a:solidFill>
                  <a:srgbClr val="F4C542"/>
                </a:solidFill>
                <a:latin typeface="Segoe UI"/>
              </a:rPr>
              <a:t>End-to-end tuition operations platform for NEET coaching institutes.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508760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18488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📝 Admissions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1618488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Inquiry conversion and new student onboarding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508760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618488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📥 Inquiries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1618488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Public leads with status-based follow-up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258568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2368296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👥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368296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Admission master with parent and class details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258568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368296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💰 Fee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368296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Plans, billing, outstanding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3008376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118104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🧾 Payment 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3118104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Manual plus Razorpay-backed payments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008376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3118104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📅 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118104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Daily marking and percentage reporting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758183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8952" y="3867911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🧪 Examination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3867911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Exam setup, marks entry and rank generation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758183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3952" y="3867911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📊 Reports &amp; Results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867911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Printable receipts and report cards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507992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58952" y="4617720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📚 Learning Materials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617720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PDF notes and lecture resources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507992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4617720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📄 OMR Scanner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4617720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Claude Vision assisted answer processing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257800"/>
            <a:ext cx="53492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5367528"/>
            <a:ext cx="21031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150" b="1">
                <a:solidFill>
                  <a:srgbClr val="145336"/>
                </a:solidFill>
                <a:latin typeface="Segoe UI"/>
              </a:rPr>
              <a:t>🎫 Support Tickets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80360" y="5367528"/>
            <a:ext cx="278892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40" b="0">
                <a:solidFill>
                  <a:srgbClr val="4B5563"/>
                </a:solidFill>
                <a:latin typeface="Segoe UI"/>
              </a:rPr>
              <a:t>Student queries with threaded responses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5715000"/>
            <a:ext cx="10972800" cy="475488"/>
          </a:xfrm>
          <a:prstGeom prst="roundRect">
            <a:avLst>
              <a:gd name="adj" fmla="val 12000"/>
            </a:avLst>
          </a:prstGeom>
          <a:solidFill>
            <a:srgbClr val="F4C542"/>
          </a:solidFill>
          <a:ln w="12700">
            <a:solidFill>
              <a:srgbClr val="F4C5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843016"/>
            <a:ext cx="10515600" cy="16459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1019" b="1">
                <a:solidFill>
                  <a:srgbClr val="145336"/>
                </a:solidFill>
                <a:latin typeface="Segoe UI"/>
              </a:rPr>
              <a:t>Technology Stack: Java EE Servlets • JSP/CSS3 • MySQL 8.x • Razorpay • Claude Vision OMR • WhatsApp • SHA-256 • MVC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